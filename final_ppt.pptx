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5" r:id="rId15"/>
    <p:sldId id="276" r:id="rId16"/>
    <p:sldId id="277" r:id="rId17"/>
    <p:sldId id="278" r:id="rId18"/>
    <p:sldId id="280" r:id="rId19"/>
    <p:sldId id="270" r:id="rId20"/>
    <p:sldId id="271" r:id="rId21"/>
    <p:sldId id="272" r:id="rId22"/>
    <p:sldId id="273" r:id="rId23"/>
    <p:sldId id="27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18055-ABA6-7840-5FBF-79B7F51760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869BC4B-E3FB-2F0F-EA8D-F6B783A8E4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70C0956-497A-49BD-DCB5-D323079C90B5}"/>
              </a:ext>
            </a:extLst>
          </p:cNvPr>
          <p:cNvSpPr>
            <a:spLocks noGrp="1"/>
          </p:cNvSpPr>
          <p:nvPr>
            <p:ph type="dt" sz="half" idx="10"/>
          </p:nvPr>
        </p:nvSpPr>
        <p:spPr/>
        <p:txBody>
          <a:bodyPr/>
          <a:lstStyle/>
          <a:p>
            <a:fld id="{C49097B4-9C55-4C06-8E10-E74AE3E87529}" type="datetimeFigureOut">
              <a:rPr lang="en-IN" smtClean="0"/>
              <a:t>17-04-2026</a:t>
            </a:fld>
            <a:endParaRPr lang="en-IN"/>
          </a:p>
        </p:txBody>
      </p:sp>
      <p:sp>
        <p:nvSpPr>
          <p:cNvPr id="5" name="Footer Placeholder 4">
            <a:extLst>
              <a:ext uri="{FF2B5EF4-FFF2-40B4-BE49-F238E27FC236}">
                <a16:creationId xmlns:a16="http://schemas.microsoft.com/office/drawing/2014/main" id="{3194B0EE-59A1-67EA-AC68-2C72525504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F3B5BC-8CAB-A7B0-8BBA-ED44BF556309}"/>
              </a:ext>
            </a:extLst>
          </p:cNvPr>
          <p:cNvSpPr>
            <a:spLocks noGrp="1"/>
          </p:cNvSpPr>
          <p:nvPr>
            <p:ph type="sldNum" sz="quarter" idx="12"/>
          </p:nvPr>
        </p:nvSpPr>
        <p:spPr/>
        <p:txBody>
          <a:bodyPr/>
          <a:lstStyle/>
          <a:p>
            <a:fld id="{D1B83013-358B-4DCE-9B79-F66619CC8B3E}" type="slidenum">
              <a:rPr lang="en-IN" smtClean="0"/>
              <a:t>‹#›</a:t>
            </a:fld>
            <a:endParaRPr lang="en-IN"/>
          </a:p>
        </p:txBody>
      </p:sp>
    </p:spTree>
    <p:extLst>
      <p:ext uri="{BB962C8B-B14F-4D97-AF65-F5344CB8AC3E}">
        <p14:creationId xmlns:p14="http://schemas.microsoft.com/office/powerpoint/2010/main" val="1355468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4421B-B409-FF78-7CFE-6E84122B9C4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92E839D-FD0A-3111-8E8A-AFE64B4539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51EC6B-B534-58AD-FDB3-619FE226C230}"/>
              </a:ext>
            </a:extLst>
          </p:cNvPr>
          <p:cNvSpPr>
            <a:spLocks noGrp="1"/>
          </p:cNvSpPr>
          <p:nvPr>
            <p:ph type="dt" sz="half" idx="10"/>
          </p:nvPr>
        </p:nvSpPr>
        <p:spPr/>
        <p:txBody>
          <a:bodyPr/>
          <a:lstStyle/>
          <a:p>
            <a:fld id="{C49097B4-9C55-4C06-8E10-E74AE3E87529}" type="datetimeFigureOut">
              <a:rPr lang="en-IN" smtClean="0"/>
              <a:t>17-04-2026</a:t>
            </a:fld>
            <a:endParaRPr lang="en-IN"/>
          </a:p>
        </p:txBody>
      </p:sp>
      <p:sp>
        <p:nvSpPr>
          <p:cNvPr id="5" name="Footer Placeholder 4">
            <a:extLst>
              <a:ext uri="{FF2B5EF4-FFF2-40B4-BE49-F238E27FC236}">
                <a16:creationId xmlns:a16="http://schemas.microsoft.com/office/drawing/2014/main" id="{B8330844-B64D-5154-DD07-6795DF7D94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446A59-2E32-43DE-221A-E51917FF6DEE}"/>
              </a:ext>
            </a:extLst>
          </p:cNvPr>
          <p:cNvSpPr>
            <a:spLocks noGrp="1"/>
          </p:cNvSpPr>
          <p:nvPr>
            <p:ph type="sldNum" sz="quarter" idx="12"/>
          </p:nvPr>
        </p:nvSpPr>
        <p:spPr/>
        <p:txBody>
          <a:bodyPr/>
          <a:lstStyle/>
          <a:p>
            <a:fld id="{D1B83013-358B-4DCE-9B79-F66619CC8B3E}" type="slidenum">
              <a:rPr lang="en-IN" smtClean="0"/>
              <a:t>‹#›</a:t>
            </a:fld>
            <a:endParaRPr lang="en-IN"/>
          </a:p>
        </p:txBody>
      </p:sp>
    </p:spTree>
    <p:extLst>
      <p:ext uri="{BB962C8B-B14F-4D97-AF65-F5344CB8AC3E}">
        <p14:creationId xmlns:p14="http://schemas.microsoft.com/office/powerpoint/2010/main" val="25218173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F3D4C-602C-6B9B-7C64-15CC68499F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FFE46B6-69FE-482A-FBEE-434A49E5D15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846527-9DB4-2CB1-AAA7-C74C9D76F3FB}"/>
              </a:ext>
            </a:extLst>
          </p:cNvPr>
          <p:cNvSpPr>
            <a:spLocks noGrp="1"/>
          </p:cNvSpPr>
          <p:nvPr>
            <p:ph type="dt" sz="half" idx="10"/>
          </p:nvPr>
        </p:nvSpPr>
        <p:spPr/>
        <p:txBody>
          <a:bodyPr/>
          <a:lstStyle/>
          <a:p>
            <a:fld id="{C49097B4-9C55-4C06-8E10-E74AE3E87529}" type="datetimeFigureOut">
              <a:rPr lang="en-IN" smtClean="0"/>
              <a:t>17-04-2026</a:t>
            </a:fld>
            <a:endParaRPr lang="en-IN"/>
          </a:p>
        </p:txBody>
      </p:sp>
      <p:sp>
        <p:nvSpPr>
          <p:cNvPr id="5" name="Footer Placeholder 4">
            <a:extLst>
              <a:ext uri="{FF2B5EF4-FFF2-40B4-BE49-F238E27FC236}">
                <a16:creationId xmlns:a16="http://schemas.microsoft.com/office/drawing/2014/main" id="{620C2ACF-5595-7EC7-2561-5B8D8E07FD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C10032-EA61-D736-F5A9-0750233E37D0}"/>
              </a:ext>
            </a:extLst>
          </p:cNvPr>
          <p:cNvSpPr>
            <a:spLocks noGrp="1"/>
          </p:cNvSpPr>
          <p:nvPr>
            <p:ph type="sldNum" sz="quarter" idx="12"/>
          </p:nvPr>
        </p:nvSpPr>
        <p:spPr/>
        <p:txBody>
          <a:bodyPr/>
          <a:lstStyle/>
          <a:p>
            <a:fld id="{D1B83013-358B-4DCE-9B79-F66619CC8B3E}" type="slidenum">
              <a:rPr lang="en-IN" smtClean="0"/>
              <a:t>‹#›</a:t>
            </a:fld>
            <a:endParaRPr lang="en-IN"/>
          </a:p>
        </p:txBody>
      </p:sp>
    </p:spTree>
    <p:extLst>
      <p:ext uri="{BB962C8B-B14F-4D97-AF65-F5344CB8AC3E}">
        <p14:creationId xmlns:p14="http://schemas.microsoft.com/office/powerpoint/2010/main" val="3636274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46442-B4ED-C3A7-BB24-65508D248FA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8736FBD-6590-434D-C118-C77C259441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6ABAA07-0CBE-C0EF-737F-D9723274A89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55A8F7D-A6E6-7E7F-E7BE-641BD77DD2B4}"/>
              </a:ext>
            </a:extLst>
          </p:cNvPr>
          <p:cNvSpPr>
            <a:spLocks noGrp="1"/>
          </p:cNvSpPr>
          <p:nvPr>
            <p:ph type="dt" sz="half" idx="10"/>
          </p:nvPr>
        </p:nvSpPr>
        <p:spPr/>
        <p:txBody>
          <a:bodyPr/>
          <a:lstStyle/>
          <a:p>
            <a:fld id="{C49097B4-9C55-4C06-8E10-E74AE3E87529}" type="datetimeFigureOut">
              <a:rPr lang="en-IN" smtClean="0"/>
              <a:t>17-04-2026</a:t>
            </a:fld>
            <a:endParaRPr lang="en-IN"/>
          </a:p>
        </p:txBody>
      </p:sp>
      <p:sp>
        <p:nvSpPr>
          <p:cNvPr id="6" name="Footer Placeholder 5">
            <a:extLst>
              <a:ext uri="{FF2B5EF4-FFF2-40B4-BE49-F238E27FC236}">
                <a16:creationId xmlns:a16="http://schemas.microsoft.com/office/drawing/2014/main" id="{84BB475D-B9D8-3CF6-5442-69D5A8C23B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DA43C5-5A80-089F-0E29-AA68BC6224FD}"/>
              </a:ext>
            </a:extLst>
          </p:cNvPr>
          <p:cNvSpPr>
            <a:spLocks noGrp="1"/>
          </p:cNvSpPr>
          <p:nvPr>
            <p:ph type="sldNum" sz="quarter" idx="12"/>
          </p:nvPr>
        </p:nvSpPr>
        <p:spPr/>
        <p:txBody>
          <a:bodyPr/>
          <a:lstStyle/>
          <a:p>
            <a:fld id="{D1B83013-358B-4DCE-9B79-F66619CC8B3E}" type="slidenum">
              <a:rPr lang="en-IN" smtClean="0"/>
              <a:t>‹#›</a:t>
            </a:fld>
            <a:endParaRPr lang="en-IN"/>
          </a:p>
        </p:txBody>
      </p:sp>
    </p:spTree>
    <p:extLst>
      <p:ext uri="{BB962C8B-B14F-4D97-AF65-F5344CB8AC3E}">
        <p14:creationId xmlns:p14="http://schemas.microsoft.com/office/powerpoint/2010/main" val="1376603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350E9-9D80-004E-CAD3-AC5EAC42BB1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6CA0385-34BC-83CA-2E96-55EC9D3296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734A95-3A72-EEDB-E0A3-F0B21FB445D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59CA788-3C0B-59E7-D56B-051556CBF1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965C5B-5FE6-5D88-0F84-A41CF125546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AEBFE20-23A8-9D26-53C0-2BED0EA5F536}"/>
              </a:ext>
            </a:extLst>
          </p:cNvPr>
          <p:cNvSpPr>
            <a:spLocks noGrp="1"/>
          </p:cNvSpPr>
          <p:nvPr>
            <p:ph type="dt" sz="half" idx="10"/>
          </p:nvPr>
        </p:nvSpPr>
        <p:spPr/>
        <p:txBody>
          <a:bodyPr/>
          <a:lstStyle/>
          <a:p>
            <a:fld id="{C49097B4-9C55-4C06-8E10-E74AE3E87529}" type="datetimeFigureOut">
              <a:rPr lang="en-IN" smtClean="0"/>
              <a:t>17-04-2026</a:t>
            </a:fld>
            <a:endParaRPr lang="en-IN"/>
          </a:p>
        </p:txBody>
      </p:sp>
      <p:sp>
        <p:nvSpPr>
          <p:cNvPr id="8" name="Footer Placeholder 7">
            <a:extLst>
              <a:ext uri="{FF2B5EF4-FFF2-40B4-BE49-F238E27FC236}">
                <a16:creationId xmlns:a16="http://schemas.microsoft.com/office/drawing/2014/main" id="{08928B39-D8C9-78C8-F9AC-32517290BE8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DF9584F-C053-0069-C861-63F886A4C983}"/>
              </a:ext>
            </a:extLst>
          </p:cNvPr>
          <p:cNvSpPr>
            <a:spLocks noGrp="1"/>
          </p:cNvSpPr>
          <p:nvPr>
            <p:ph type="sldNum" sz="quarter" idx="12"/>
          </p:nvPr>
        </p:nvSpPr>
        <p:spPr/>
        <p:txBody>
          <a:bodyPr/>
          <a:lstStyle/>
          <a:p>
            <a:fld id="{D1B83013-358B-4DCE-9B79-F66619CC8B3E}" type="slidenum">
              <a:rPr lang="en-IN" smtClean="0"/>
              <a:t>‹#›</a:t>
            </a:fld>
            <a:endParaRPr lang="en-IN"/>
          </a:p>
        </p:txBody>
      </p:sp>
    </p:spTree>
    <p:extLst>
      <p:ext uri="{BB962C8B-B14F-4D97-AF65-F5344CB8AC3E}">
        <p14:creationId xmlns:p14="http://schemas.microsoft.com/office/powerpoint/2010/main" val="4125005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51DAC-B953-3C51-0E3A-C45928BC571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AA5B3AB-3D38-AFE9-07E6-0955D31F3020}"/>
              </a:ext>
            </a:extLst>
          </p:cNvPr>
          <p:cNvSpPr>
            <a:spLocks noGrp="1"/>
          </p:cNvSpPr>
          <p:nvPr>
            <p:ph type="dt" sz="half" idx="10"/>
          </p:nvPr>
        </p:nvSpPr>
        <p:spPr/>
        <p:txBody>
          <a:bodyPr/>
          <a:lstStyle/>
          <a:p>
            <a:fld id="{C49097B4-9C55-4C06-8E10-E74AE3E87529}" type="datetimeFigureOut">
              <a:rPr lang="en-IN" smtClean="0"/>
              <a:t>17-04-2026</a:t>
            </a:fld>
            <a:endParaRPr lang="en-IN"/>
          </a:p>
        </p:txBody>
      </p:sp>
      <p:sp>
        <p:nvSpPr>
          <p:cNvPr id="4" name="Footer Placeholder 3">
            <a:extLst>
              <a:ext uri="{FF2B5EF4-FFF2-40B4-BE49-F238E27FC236}">
                <a16:creationId xmlns:a16="http://schemas.microsoft.com/office/drawing/2014/main" id="{D865778C-587E-7ADD-C186-CFBCE142B09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A908AE0-6A57-AEC1-649B-0AFAC8CF2F06}"/>
              </a:ext>
            </a:extLst>
          </p:cNvPr>
          <p:cNvSpPr>
            <a:spLocks noGrp="1"/>
          </p:cNvSpPr>
          <p:nvPr>
            <p:ph type="sldNum" sz="quarter" idx="12"/>
          </p:nvPr>
        </p:nvSpPr>
        <p:spPr/>
        <p:txBody>
          <a:bodyPr/>
          <a:lstStyle/>
          <a:p>
            <a:fld id="{D1B83013-358B-4DCE-9B79-F66619CC8B3E}" type="slidenum">
              <a:rPr lang="en-IN" smtClean="0"/>
              <a:t>‹#›</a:t>
            </a:fld>
            <a:endParaRPr lang="en-IN"/>
          </a:p>
        </p:txBody>
      </p:sp>
    </p:spTree>
    <p:extLst>
      <p:ext uri="{BB962C8B-B14F-4D97-AF65-F5344CB8AC3E}">
        <p14:creationId xmlns:p14="http://schemas.microsoft.com/office/powerpoint/2010/main" val="2892340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964098-E71C-D810-0EE2-48142BEF8FEE}"/>
              </a:ext>
            </a:extLst>
          </p:cNvPr>
          <p:cNvSpPr>
            <a:spLocks noGrp="1"/>
          </p:cNvSpPr>
          <p:nvPr>
            <p:ph type="dt" sz="half" idx="10"/>
          </p:nvPr>
        </p:nvSpPr>
        <p:spPr/>
        <p:txBody>
          <a:bodyPr/>
          <a:lstStyle/>
          <a:p>
            <a:fld id="{C49097B4-9C55-4C06-8E10-E74AE3E87529}" type="datetimeFigureOut">
              <a:rPr lang="en-IN" smtClean="0"/>
              <a:t>17-04-2026</a:t>
            </a:fld>
            <a:endParaRPr lang="en-IN"/>
          </a:p>
        </p:txBody>
      </p:sp>
      <p:sp>
        <p:nvSpPr>
          <p:cNvPr id="3" name="Footer Placeholder 2">
            <a:extLst>
              <a:ext uri="{FF2B5EF4-FFF2-40B4-BE49-F238E27FC236}">
                <a16:creationId xmlns:a16="http://schemas.microsoft.com/office/drawing/2014/main" id="{3AAB7188-5FCE-9CBC-0A5B-3EB785BD397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F5FD9E3-DD4A-C1B6-6605-4F102D4C286D}"/>
              </a:ext>
            </a:extLst>
          </p:cNvPr>
          <p:cNvSpPr>
            <a:spLocks noGrp="1"/>
          </p:cNvSpPr>
          <p:nvPr>
            <p:ph type="sldNum" sz="quarter" idx="12"/>
          </p:nvPr>
        </p:nvSpPr>
        <p:spPr/>
        <p:txBody>
          <a:bodyPr/>
          <a:lstStyle/>
          <a:p>
            <a:fld id="{D1B83013-358B-4DCE-9B79-F66619CC8B3E}" type="slidenum">
              <a:rPr lang="en-IN" smtClean="0"/>
              <a:t>‹#›</a:t>
            </a:fld>
            <a:endParaRPr lang="en-IN"/>
          </a:p>
        </p:txBody>
      </p:sp>
    </p:spTree>
    <p:extLst>
      <p:ext uri="{BB962C8B-B14F-4D97-AF65-F5344CB8AC3E}">
        <p14:creationId xmlns:p14="http://schemas.microsoft.com/office/powerpoint/2010/main" val="4275511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2D606-EDF4-0C12-0CE1-170160C7F0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44604F4-0945-16D6-AC59-C88E611BF8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9B0B04A-7463-BAB1-A939-227C6216E2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BC5E1E-823C-EF34-44B8-7B7F0DE0290E}"/>
              </a:ext>
            </a:extLst>
          </p:cNvPr>
          <p:cNvSpPr>
            <a:spLocks noGrp="1"/>
          </p:cNvSpPr>
          <p:nvPr>
            <p:ph type="dt" sz="half" idx="10"/>
          </p:nvPr>
        </p:nvSpPr>
        <p:spPr/>
        <p:txBody>
          <a:bodyPr/>
          <a:lstStyle/>
          <a:p>
            <a:fld id="{C49097B4-9C55-4C06-8E10-E74AE3E87529}" type="datetimeFigureOut">
              <a:rPr lang="en-IN" smtClean="0"/>
              <a:t>17-04-2026</a:t>
            </a:fld>
            <a:endParaRPr lang="en-IN"/>
          </a:p>
        </p:txBody>
      </p:sp>
      <p:sp>
        <p:nvSpPr>
          <p:cNvPr id="6" name="Footer Placeholder 5">
            <a:extLst>
              <a:ext uri="{FF2B5EF4-FFF2-40B4-BE49-F238E27FC236}">
                <a16:creationId xmlns:a16="http://schemas.microsoft.com/office/drawing/2014/main" id="{51642E8F-43FB-CE16-C39D-06584BC794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AE06768-20E9-ED4A-8A5D-542A821E307E}"/>
              </a:ext>
            </a:extLst>
          </p:cNvPr>
          <p:cNvSpPr>
            <a:spLocks noGrp="1"/>
          </p:cNvSpPr>
          <p:nvPr>
            <p:ph type="sldNum" sz="quarter" idx="12"/>
          </p:nvPr>
        </p:nvSpPr>
        <p:spPr/>
        <p:txBody>
          <a:bodyPr/>
          <a:lstStyle/>
          <a:p>
            <a:fld id="{D1B83013-358B-4DCE-9B79-F66619CC8B3E}" type="slidenum">
              <a:rPr lang="en-IN" smtClean="0"/>
              <a:t>‹#›</a:t>
            </a:fld>
            <a:endParaRPr lang="en-IN"/>
          </a:p>
        </p:txBody>
      </p:sp>
    </p:spTree>
    <p:extLst>
      <p:ext uri="{BB962C8B-B14F-4D97-AF65-F5344CB8AC3E}">
        <p14:creationId xmlns:p14="http://schemas.microsoft.com/office/powerpoint/2010/main" val="4197309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9CFC8-9F19-DC4E-1170-44C8BE4B00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E3EA193-C780-A575-92ED-EE633D7932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FE55BAE-9D35-51CC-33C9-8A9C9D1A49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A0EC39-83F6-8812-AB9F-2B3C91BAE2C1}"/>
              </a:ext>
            </a:extLst>
          </p:cNvPr>
          <p:cNvSpPr>
            <a:spLocks noGrp="1"/>
          </p:cNvSpPr>
          <p:nvPr>
            <p:ph type="dt" sz="half" idx="10"/>
          </p:nvPr>
        </p:nvSpPr>
        <p:spPr/>
        <p:txBody>
          <a:bodyPr/>
          <a:lstStyle/>
          <a:p>
            <a:fld id="{C49097B4-9C55-4C06-8E10-E74AE3E87529}" type="datetimeFigureOut">
              <a:rPr lang="en-IN" smtClean="0"/>
              <a:t>17-04-2026</a:t>
            </a:fld>
            <a:endParaRPr lang="en-IN"/>
          </a:p>
        </p:txBody>
      </p:sp>
      <p:sp>
        <p:nvSpPr>
          <p:cNvPr id="6" name="Footer Placeholder 5">
            <a:extLst>
              <a:ext uri="{FF2B5EF4-FFF2-40B4-BE49-F238E27FC236}">
                <a16:creationId xmlns:a16="http://schemas.microsoft.com/office/drawing/2014/main" id="{CA0FB7D6-56CC-C6D2-0283-3402271C5C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A12EF32-447D-2AB3-9BF7-953ADAE3736B}"/>
              </a:ext>
            </a:extLst>
          </p:cNvPr>
          <p:cNvSpPr>
            <a:spLocks noGrp="1"/>
          </p:cNvSpPr>
          <p:nvPr>
            <p:ph type="sldNum" sz="quarter" idx="12"/>
          </p:nvPr>
        </p:nvSpPr>
        <p:spPr/>
        <p:txBody>
          <a:bodyPr/>
          <a:lstStyle/>
          <a:p>
            <a:fld id="{D1B83013-358B-4DCE-9B79-F66619CC8B3E}" type="slidenum">
              <a:rPr lang="en-IN" smtClean="0"/>
              <a:t>‹#›</a:t>
            </a:fld>
            <a:endParaRPr lang="en-IN"/>
          </a:p>
        </p:txBody>
      </p:sp>
    </p:spTree>
    <p:extLst>
      <p:ext uri="{BB962C8B-B14F-4D97-AF65-F5344CB8AC3E}">
        <p14:creationId xmlns:p14="http://schemas.microsoft.com/office/powerpoint/2010/main" val="1875912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F7C88-8A5F-FBC7-5779-F9F182F3F87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A3EF7BE-151D-E686-EC12-43F5043C59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D2867F-C2A5-B9C7-523E-08D044023B20}"/>
              </a:ext>
            </a:extLst>
          </p:cNvPr>
          <p:cNvSpPr>
            <a:spLocks noGrp="1"/>
          </p:cNvSpPr>
          <p:nvPr>
            <p:ph type="dt" sz="half" idx="10"/>
          </p:nvPr>
        </p:nvSpPr>
        <p:spPr/>
        <p:txBody>
          <a:bodyPr/>
          <a:lstStyle/>
          <a:p>
            <a:fld id="{C49097B4-9C55-4C06-8E10-E74AE3E87529}" type="datetimeFigureOut">
              <a:rPr lang="en-IN" smtClean="0"/>
              <a:t>17-04-2026</a:t>
            </a:fld>
            <a:endParaRPr lang="en-IN"/>
          </a:p>
        </p:txBody>
      </p:sp>
      <p:sp>
        <p:nvSpPr>
          <p:cNvPr id="5" name="Footer Placeholder 4">
            <a:extLst>
              <a:ext uri="{FF2B5EF4-FFF2-40B4-BE49-F238E27FC236}">
                <a16:creationId xmlns:a16="http://schemas.microsoft.com/office/drawing/2014/main" id="{3BFF9D4C-BF07-CD4D-14AB-03B69E80D9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1822DD-636C-F954-FFFB-2DBD509678AF}"/>
              </a:ext>
            </a:extLst>
          </p:cNvPr>
          <p:cNvSpPr>
            <a:spLocks noGrp="1"/>
          </p:cNvSpPr>
          <p:nvPr>
            <p:ph type="sldNum" sz="quarter" idx="12"/>
          </p:nvPr>
        </p:nvSpPr>
        <p:spPr/>
        <p:txBody>
          <a:bodyPr/>
          <a:lstStyle/>
          <a:p>
            <a:fld id="{D1B83013-358B-4DCE-9B79-F66619CC8B3E}" type="slidenum">
              <a:rPr lang="en-IN" smtClean="0"/>
              <a:t>‹#›</a:t>
            </a:fld>
            <a:endParaRPr lang="en-IN"/>
          </a:p>
        </p:txBody>
      </p:sp>
    </p:spTree>
    <p:extLst>
      <p:ext uri="{BB962C8B-B14F-4D97-AF65-F5344CB8AC3E}">
        <p14:creationId xmlns:p14="http://schemas.microsoft.com/office/powerpoint/2010/main" val="3372553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BAFCA7-AABA-71E9-6321-9FFB8D485CB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9C5C631-543F-0080-F28C-DADCEDCFC3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2540A7-2C7A-521C-BFD9-B29F39B53924}"/>
              </a:ext>
            </a:extLst>
          </p:cNvPr>
          <p:cNvSpPr>
            <a:spLocks noGrp="1"/>
          </p:cNvSpPr>
          <p:nvPr>
            <p:ph type="dt" sz="half" idx="10"/>
          </p:nvPr>
        </p:nvSpPr>
        <p:spPr/>
        <p:txBody>
          <a:bodyPr/>
          <a:lstStyle/>
          <a:p>
            <a:fld id="{C49097B4-9C55-4C06-8E10-E74AE3E87529}" type="datetimeFigureOut">
              <a:rPr lang="en-IN" smtClean="0"/>
              <a:t>17-04-2026</a:t>
            </a:fld>
            <a:endParaRPr lang="en-IN"/>
          </a:p>
        </p:txBody>
      </p:sp>
      <p:sp>
        <p:nvSpPr>
          <p:cNvPr id="5" name="Footer Placeholder 4">
            <a:extLst>
              <a:ext uri="{FF2B5EF4-FFF2-40B4-BE49-F238E27FC236}">
                <a16:creationId xmlns:a16="http://schemas.microsoft.com/office/drawing/2014/main" id="{B6FD9A62-8B4C-E0B9-F048-7657E00DB1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A02C23-2179-3402-1C33-A8CE76BA867B}"/>
              </a:ext>
            </a:extLst>
          </p:cNvPr>
          <p:cNvSpPr>
            <a:spLocks noGrp="1"/>
          </p:cNvSpPr>
          <p:nvPr>
            <p:ph type="sldNum" sz="quarter" idx="12"/>
          </p:nvPr>
        </p:nvSpPr>
        <p:spPr/>
        <p:txBody>
          <a:bodyPr/>
          <a:lstStyle/>
          <a:p>
            <a:fld id="{D1B83013-358B-4DCE-9B79-F66619CC8B3E}" type="slidenum">
              <a:rPr lang="en-IN" smtClean="0"/>
              <a:t>‹#›</a:t>
            </a:fld>
            <a:endParaRPr lang="en-IN"/>
          </a:p>
        </p:txBody>
      </p:sp>
    </p:spTree>
    <p:extLst>
      <p:ext uri="{BB962C8B-B14F-4D97-AF65-F5344CB8AC3E}">
        <p14:creationId xmlns:p14="http://schemas.microsoft.com/office/powerpoint/2010/main" val="31875056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73077-DA68-56B6-DE3F-E490C29E9A37}"/>
              </a:ext>
            </a:extLst>
          </p:cNvPr>
          <p:cNvSpPr>
            <a:spLocks noGrp="1"/>
          </p:cNvSpPr>
          <p:nvPr>
            <p:ph type="title"/>
          </p:nvPr>
        </p:nvSpPr>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5D1864-D4D1-1114-6D7F-01CD3F310A97}"/>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E74149-486A-9F52-F211-E8256C496A64}"/>
              </a:ext>
            </a:extLst>
          </p:cNvPr>
          <p:cNvSpPr>
            <a:spLocks noGrp="1"/>
          </p:cNvSpPr>
          <p:nvPr>
            <p:ph type="dt" sz="half" idx="10"/>
          </p:nvPr>
        </p:nvSpPr>
        <p:spPr/>
        <p:txBody>
          <a:bodyPr/>
          <a:lstStyle/>
          <a:p>
            <a:fld id="{C49097B4-9C55-4C06-8E10-E74AE3E87529}" type="datetimeFigureOut">
              <a:rPr lang="en-IN" smtClean="0"/>
              <a:t>17-04-2026</a:t>
            </a:fld>
            <a:endParaRPr lang="en-IN"/>
          </a:p>
        </p:txBody>
      </p:sp>
      <p:sp>
        <p:nvSpPr>
          <p:cNvPr id="5" name="Footer Placeholder 4">
            <a:extLst>
              <a:ext uri="{FF2B5EF4-FFF2-40B4-BE49-F238E27FC236}">
                <a16:creationId xmlns:a16="http://schemas.microsoft.com/office/drawing/2014/main" id="{D53BC21E-CE5D-97B7-55DA-88648F57CC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E1F25E-3853-9A3F-0EEF-78663BEB29E0}"/>
              </a:ext>
            </a:extLst>
          </p:cNvPr>
          <p:cNvSpPr>
            <a:spLocks noGrp="1"/>
          </p:cNvSpPr>
          <p:nvPr>
            <p:ph type="sldNum" sz="quarter" idx="12"/>
          </p:nvPr>
        </p:nvSpPr>
        <p:spPr/>
        <p:txBody>
          <a:bodyPr/>
          <a:lstStyle/>
          <a:p>
            <a:fld id="{D1B83013-358B-4DCE-9B79-F66619CC8B3E}" type="slidenum">
              <a:rPr lang="en-IN" smtClean="0"/>
              <a:t>‹#›</a:t>
            </a:fld>
            <a:endParaRPr lang="en-IN"/>
          </a:p>
        </p:txBody>
      </p:sp>
    </p:spTree>
    <p:extLst>
      <p:ext uri="{BB962C8B-B14F-4D97-AF65-F5344CB8AC3E}">
        <p14:creationId xmlns:p14="http://schemas.microsoft.com/office/powerpoint/2010/main" val="1051902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E5A4A0-A0B6-9041-0B70-986AF6F021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767E0ED-FAB8-5A4E-5ABD-1FAEE8CB7A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88C42A-58D8-9DD4-92F5-4AB506BF74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9097B4-9C55-4C06-8E10-E74AE3E87529}" type="datetimeFigureOut">
              <a:rPr lang="en-IN" smtClean="0"/>
              <a:t>17-04-2026</a:t>
            </a:fld>
            <a:endParaRPr lang="en-IN"/>
          </a:p>
        </p:txBody>
      </p:sp>
      <p:sp>
        <p:nvSpPr>
          <p:cNvPr id="5" name="Footer Placeholder 4">
            <a:extLst>
              <a:ext uri="{FF2B5EF4-FFF2-40B4-BE49-F238E27FC236}">
                <a16:creationId xmlns:a16="http://schemas.microsoft.com/office/drawing/2014/main" id="{4A5FBE87-73B9-7A41-AC91-350A60057D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77088E4-1984-0815-F580-3CA11FB942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1B83013-358B-4DCE-9B79-F66619CC8B3E}" type="slidenum">
              <a:rPr lang="en-IN" smtClean="0"/>
              <a:t>‹#›</a:t>
            </a:fld>
            <a:endParaRPr lang="en-IN"/>
          </a:p>
        </p:txBody>
      </p:sp>
    </p:spTree>
    <p:extLst>
      <p:ext uri="{BB962C8B-B14F-4D97-AF65-F5344CB8AC3E}">
        <p14:creationId xmlns:p14="http://schemas.microsoft.com/office/powerpoint/2010/main" val="12679434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Layout" Target="../slideLayouts/slideLayout1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2B689C03-0D83-7DF4-A021-948C2DD4146E}"/>
              </a:ext>
            </a:extLst>
          </p:cNvPr>
          <p:cNvSpPr>
            <a:spLocks noGrp="1"/>
          </p:cNvSpPr>
          <p:nvPr/>
        </p:nvSpPr>
        <p:spPr>
          <a:xfrm>
            <a:off x="1851537" y="1936297"/>
            <a:ext cx="9144000" cy="23876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dirty="0"/>
              <a:t>TripGUY: RealTime Geo-Tracking and Social Itinerary Management with Integrated AI Assistance</a:t>
            </a:r>
            <a:endParaRPr lang="en-IN" sz="4000" dirty="0"/>
          </a:p>
        </p:txBody>
      </p:sp>
      <p:sp>
        <p:nvSpPr>
          <p:cNvPr id="22" name="Subtitle 2">
            <a:extLst>
              <a:ext uri="{FF2B5EF4-FFF2-40B4-BE49-F238E27FC236}">
                <a16:creationId xmlns:a16="http://schemas.microsoft.com/office/drawing/2014/main" id="{A7D59D47-39A9-5B2F-7C77-9A89647BC528}"/>
              </a:ext>
            </a:extLst>
          </p:cNvPr>
          <p:cNvSpPr>
            <a:spLocks noGrp="1"/>
          </p:cNvSpPr>
          <p:nvPr/>
        </p:nvSpPr>
        <p:spPr>
          <a:xfrm>
            <a:off x="1035459" y="4868302"/>
            <a:ext cx="5388078" cy="1451193"/>
          </a:xfrm>
          <a:prstGeom prst="rect">
            <a:avLst/>
          </a:prstGeom>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b="1" dirty="0"/>
              <a:t>Team Members:</a:t>
            </a:r>
          </a:p>
          <a:p>
            <a:pPr algn="l"/>
            <a:r>
              <a:rPr lang="en-US" dirty="0"/>
              <a:t>	Bala murugan S(510622104013), </a:t>
            </a:r>
          </a:p>
          <a:p>
            <a:pPr algn="l"/>
            <a:r>
              <a:rPr lang="en-US" dirty="0"/>
              <a:t>	Gnanasekaran D(510622104026), </a:t>
            </a:r>
          </a:p>
          <a:p>
            <a:pPr algn="l"/>
            <a:r>
              <a:rPr lang="en-US" dirty="0"/>
              <a:t>	Badrinath M (510622104012)</a:t>
            </a:r>
          </a:p>
        </p:txBody>
      </p:sp>
      <p:sp>
        <p:nvSpPr>
          <p:cNvPr id="23" name="Subtitle 2">
            <a:extLst>
              <a:ext uri="{FF2B5EF4-FFF2-40B4-BE49-F238E27FC236}">
                <a16:creationId xmlns:a16="http://schemas.microsoft.com/office/drawing/2014/main" id="{DC89FE56-C5A5-4DE1-C6A7-BC9AB03BAB89}"/>
              </a:ext>
            </a:extLst>
          </p:cNvPr>
          <p:cNvSpPr txBox="1">
            <a:spLocks/>
          </p:cNvSpPr>
          <p:nvPr/>
        </p:nvSpPr>
        <p:spPr>
          <a:xfrm>
            <a:off x="1954776" y="538505"/>
            <a:ext cx="9144000" cy="1655762"/>
          </a:xfrm>
          <a:prstGeom prst="rect">
            <a:avLst/>
          </a:prstGeom>
        </p:spPr>
        <p:txBody>
          <a:bodyPr vert="horz" lIns="91440" tIns="45720" rIns="91440" bIns="45720" rtlCol="0">
            <a:normAutofit/>
          </a:bodyPr>
          <a:lstStyle>
            <a:defPPr>
              <a:defRPr lang="en-US"/>
            </a:defPPr>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latin typeface="Times New Roman" panose="02020603050405020304" pitchFamily="18" charset="0"/>
                <a:cs typeface="Times New Roman" panose="02020603050405020304" pitchFamily="18" charset="0"/>
              </a:rPr>
              <a:t>C.ABDUL HAKEEM COLLEGE OF ENGINEERING AND TECHNOLOGY, MELVISHARAM.</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	</a:t>
            </a:r>
            <a:br>
              <a:rPr lang="en-IN"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DEPARTMENT OF COMPUTER SCIENCE AND ENGINEERING</a:t>
            </a:r>
            <a:endParaRPr lang="en-IN" dirty="0"/>
          </a:p>
        </p:txBody>
      </p:sp>
      <p:pic>
        <p:nvPicPr>
          <p:cNvPr id="24" name="Picture 23">
            <a:extLst>
              <a:ext uri="{FF2B5EF4-FFF2-40B4-BE49-F238E27FC236}">
                <a16:creationId xmlns:a16="http://schemas.microsoft.com/office/drawing/2014/main" id="{FF25BC33-A6CE-B269-E942-1821D55FF7EF}"/>
              </a:ext>
            </a:extLst>
          </p:cNvPr>
          <p:cNvPicPr>
            <a:picLocks noChangeAspect="1" noChangeArrowheads="1"/>
          </p:cNvPicPr>
          <p:nvPr/>
        </p:nvPicPr>
        <p:blipFill>
          <a:blip r:embed="rId2">
            <a:grayscl/>
            <a:extLst>
              <a:ext uri="{28A0092B-C50C-407E-A947-70E740481C1C}">
                <a14:useLocalDpi xmlns:a14="http://schemas.microsoft.com/office/drawing/2010/main" val="0"/>
              </a:ext>
            </a:extLst>
          </a:blip>
          <a:srcRect/>
          <a:stretch>
            <a:fillRect/>
          </a:stretch>
        </p:blipFill>
        <p:spPr bwMode="auto">
          <a:xfrm>
            <a:off x="704850" y="538504"/>
            <a:ext cx="1153179" cy="1397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TextBox 6">
            <a:extLst>
              <a:ext uri="{FF2B5EF4-FFF2-40B4-BE49-F238E27FC236}">
                <a16:creationId xmlns:a16="http://schemas.microsoft.com/office/drawing/2014/main" id="{23BC604A-095C-F8F7-CE5D-5787561F014E}"/>
              </a:ext>
            </a:extLst>
          </p:cNvPr>
          <p:cNvSpPr txBox="1"/>
          <p:nvPr/>
        </p:nvSpPr>
        <p:spPr>
          <a:xfrm>
            <a:off x="7219950" y="4861084"/>
            <a:ext cx="4267200" cy="101566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dirty="0"/>
              <a:t>Guided By: </a:t>
            </a:r>
          </a:p>
          <a:p>
            <a:r>
              <a:rPr lang="en-US" sz="2000" dirty="0"/>
              <a:t>	</a:t>
            </a:r>
            <a:r>
              <a:rPr lang="en-US" sz="2000" dirty="0" err="1"/>
              <a:t>Mr</a:t>
            </a:r>
            <a:r>
              <a:rPr lang="en-US" sz="2000" dirty="0"/>
              <a:t> K A Suhail Ahmed</a:t>
            </a:r>
          </a:p>
          <a:p>
            <a:r>
              <a:rPr lang="en-US" sz="2000" dirty="0"/>
              <a:t>	AP/ CSE</a:t>
            </a:r>
            <a:endParaRPr lang="en-IN" sz="2000" dirty="0"/>
          </a:p>
        </p:txBody>
      </p:sp>
    </p:spTree>
    <p:extLst>
      <p:ext uri="{BB962C8B-B14F-4D97-AF65-F5344CB8AC3E}">
        <p14:creationId xmlns:p14="http://schemas.microsoft.com/office/powerpoint/2010/main" val="1162693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1727D-8BD8-A9AF-22B4-1E3A3F04BB2C}"/>
              </a:ext>
            </a:extLst>
          </p:cNvPr>
          <p:cNvSpPr>
            <a:spLocks noGrp="1"/>
          </p:cNvSpPr>
          <p:nvPr>
            <p:ph type="title"/>
          </p:nvPr>
        </p:nvSpPr>
        <p:spPr>
          <a:xfrm>
            <a:off x="838200" y="444142"/>
            <a:ext cx="10515600" cy="1325563"/>
          </a:xfrm>
        </p:spPr>
        <p:txBody>
          <a:bodyPr/>
          <a:lstStyle/>
          <a:p>
            <a:r>
              <a:rPr lang="en-IN" dirty="0"/>
              <a:t>Introduction</a:t>
            </a:r>
          </a:p>
        </p:txBody>
      </p:sp>
      <p:sp>
        <p:nvSpPr>
          <p:cNvPr id="10" name="Text Placeholder 2">
            <a:extLst>
              <a:ext uri="{FF2B5EF4-FFF2-40B4-BE49-F238E27FC236}">
                <a16:creationId xmlns:a16="http://schemas.microsoft.com/office/drawing/2014/main" id="{CDA36FB6-D9D8-E0D4-A5A8-423EE51E113D}"/>
              </a:ext>
            </a:extLst>
          </p:cNvPr>
          <p:cNvSpPr>
            <a:spLocks noGrp="1"/>
          </p:cNvSpPr>
          <p:nvPr>
            <p:ph type="body" idx="1"/>
          </p:nvPr>
        </p:nvSpPr>
        <p:spPr>
          <a:xfrm>
            <a:off x="838200" y="1808933"/>
            <a:ext cx="10515600" cy="3677467"/>
          </a:xfrm>
        </p:spPr>
        <p:txBody>
          <a:bodyPr>
            <a:noAutofit/>
          </a:bodyPr>
          <a:lstStyle/>
          <a:p>
            <a:pPr marL="0" indent="0" algn="just">
              <a:lnSpc>
                <a:spcPct val="200000"/>
              </a:lnSpc>
              <a:buNone/>
            </a:pPr>
            <a:r>
              <a:rPr lang="en-US" sz="2000" dirty="0"/>
              <a:t>This unified, cross-platform travel companion eliminates app fragmentation by seamlessly combining itinerary planning, social sharing, and offline-first functionality. Built on a scalable Clean Architecture, it delivers cost-efficient live geolocation tracking and high-end map interactivity without relying on expensive proprietary APIs. To further support budget-conscious explorers, the platform also features a secure, context-aware Generative AI chatbot that provides dynamic travel guidance and budget management.</a:t>
            </a:r>
          </a:p>
        </p:txBody>
      </p:sp>
    </p:spTree>
    <p:extLst>
      <p:ext uri="{BB962C8B-B14F-4D97-AF65-F5344CB8AC3E}">
        <p14:creationId xmlns:p14="http://schemas.microsoft.com/office/powerpoint/2010/main" val="2246328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604B8-0188-9B85-23FB-0A51217E454C}"/>
              </a:ext>
            </a:extLst>
          </p:cNvPr>
          <p:cNvSpPr>
            <a:spLocks noGrp="1"/>
          </p:cNvSpPr>
          <p:nvPr>
            <p:ph type="title"/>
          </p:nvPr>
        </p:nvSpPr>
        <p:spPr>
          <a:xfrm>
            <a:off x="838200" y="500036"/>
            <a:ext cx="10515600" cy="1325563"/>
          </a:xfrm>
        </p:spPr>
        <p:txBody>
          <a:bodyPr/>
          <a:lstStyle/>
          <a:p>
            <a:r>
              <a:rPr lang="en-IN" dirty="0"/>
              <a:t>Abstract</a:t>
            </a:r>
          </a:p>
        </p:txBody>
      </p:sp>
      <p:sp>
        <p:nvSpPr>
          <p:cNvPr id="3" name="Text Placeholder 2">
            <a:extLst>
              <a:ext uri="{FF2B5EF4-FFF2-40B4-BE49-F238E27FC236}">
                <a16:creationId xmlns:a16="http://schemas.microsoft.com/office/drawing/2014/main" id="{53DFF7EB-D13B-A7C7-FBDB-F63F550ED7D2}"/>
              </a:ext>
            </a:extLst>
          </p:cNvPr>
          <p:cNvSpPr>
            <a:spLocks noGrp="1"/>
          </p:cNvSpPr>
          <p:nvPr>
            <p:ph type="body" idx="1"/>
          </p:nvPr>
        </p:nvSpPr>
        <p:spPr>
          <a:xfrm>
            <a:off x="838200" y="1774646"/>
            <a:ext cx="10515600" cy="5083354"/>
          </a:xfrm>
        </p:spPr>
        <p:txBody>
          <a:bodyPr>
            <a:noAutofit/>
          </a:bodyPr>
          <a:lstStyle/>
          <a:p>
            <a:pPr marL="0" indent="0" algn="just">
              <a:lnSpc>
                <a:spcPct val="200000"/>
              </a:lnSpc>
              <a:buNone/>
            </a:pPr>
            <a:r>
              <a:rPr lang="en-US" sz="2000" dirty="0"/>
              <a:t>Trip-GUY combines trip planning, live navigation, social sharing, and AI into a single, high-performance iOS and Android app, eliminating the need for fragmented tools.</a:t>
            </a:r>
          </a:p>
          <a:p>
            <a:pPr marL="0" indent="0" algn="just">
              <a:lnSpc>
                <a:spcPct val="200000"/>
              </a:lnSpc>
              <a:buNone/>
            </a:pPr>
            <a:r>
              <a:rPr lang="en-US" sz="2000" dirty="0"/>
              <a:t>Built with Flutter and Clean Architecture, the app relies on a serverless Firebase backend, open-source mapping tools (OpenStreetMap/MapLibre), and Google Gemini Pro for AI assistance.</a:t>
            </a:r>
          </a:p>
          <a:p>
            <a:pPr marL="0" indent="0" algn="just">
              <a:lnSpc>
                <a:spcPct val="200000"/>
              </a:lnSpc>
              <a:buNone/>
            </a:pPr>
            <a:r>
              <a:rPr lang="en-US" sz="2000" dirty="0"/>
              <a:t>Travelers currently struggle with a fragmented experience, forced to juggle disconnected apps for planning, navigation, and sharing, which causes data duplication and inefficiency</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870504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617ED-AD2D-4B5A-5DB3-ACBEE703E19D}"/>
              </a:ext>
            </a:extLst>
          </p:cNvPr>
          <p:cNvSpPr>
            <a:spLocks noGrp="1"/>
          </p:cNvSpPr>
          <p:nvPr>
            <p:ph type="title"/>
          </p:nvPr>
        </p:nvSpPr>
        <p:spPr/>
        <p:txBody>
          <a:bodyPr/>
          <a:lstStyle/>
          <a:p>
            <a:r>
              <a:rPr lang="en-IN" dirty="0"/>
              <a:t>Literature Review:</a:t>
            </a:r>
          </a:p>
        </p:txBody>
      </p:sp>
      <p:sp>
        <p:nvSpPr>
          <p:cNvPr id="3" name="Text Placeholder 2">
            <a:extLst>
              <a:ext uri="{FF2B5EF4-FFF2-40B4-BE49-F238E27FC236}">
                <a16:creationId xmlns:a16="http://schemas.microsoft.com/office/drawing/2014/main" id="{B41E982B-14A5-F5DC-B302-485830CD84C2}"/>
              </a:ext>
            </a:extLst>
          </p:cNvPr>
          <p:cNvSpPr>
            <a:spLocks noGrp="1"/>
          </p:cNvSpPr>
          <p:nvPr>
            <p:ph type="body" idx="1"/>
          </p:nvPr>
        </p:nvSpPr>
        <p:spPr/>
        <p:txBody>
          <a:bodyPr>
            <a:normAutofit fontScale="77500" lnSpcReduction="20000"/>
          </a:bodyPr>
          <a:lstStyle/>
          <a:p>
            <a:pPr marL="0" indent="0">
              <a:buNone/>
            </a:pPr>
            <a:r>
              <a:rPr lang="en-US" sz="2600" b="1" dirty="0"/>
              <a:t>VOYAGER – Smart Travel Guidance Cross Platform Mobile Application</a:t>
            </a:r>
            <a:endParaRPr lang="en-US" sz="2600" dirty="0"/>
          </a:p>
          <a:p>
            <a:pPr marL="0" indent="0">
              <a:buNone/>
            </a:pPr>
            <a:r>
              <a:rPr lang="en-US" sz="2600" b="1" dirty="0"/>
              <a:t>	Authors:</a:t>
            </a:r>
            <a:r>
              <a:rPr lang="en-US" sz="2600" dirty="0"/>
              <a:t> W.A.K.D. Wijesinghe</a:t>
            </a:r>
          </a:p>
          <a:p>
            <a:pPr marL="0" indent="0">
              <a:buNone/>
            </a:pPr>
            <a:r>
              <a:rPr lang="en-US" sz="2600" b="1" dirty="0"/>
              <a:t>	Published Year:</a:t>
            </a:r>
            <a:r>
              <a:rPr lang="en-US" sz="2600" dirty="0"/>
              <a:t> 2021 (ICAC - IEEE)</a:t>
            </a:r>
          </a:p>
          <a:p>
            <a:endParaRPr lang="en-US" dirty="0"/>
          </a:p>
          <a:p>
            <a:pPr marL="0" indent="0">
              <a:buNone/>
            </a:pPr>
            <a:r>
              <a:rPr lang="en-US" b="1" dirty="0"/>
              <a:t>Functionality:</a:t>
            </a:r>
          </a:p>
          <a:p>
            <a:r>
              <a:rPr lang="en-US" sz="2600" dirty="0"/>
              <a:t>Integrates map APIs for dynamic routing and shortest path options.</a:t>
            </a:r>
          </a:p>
          <a:p>
            <a:r>
              <a:rPr lang="en-US" sz="2600" dirty="0"/>
              <a:t>Track's locations with built-in emergency guidance.</a:t>
            </a:r>
          </a:p>
          <a:p>
            <a:r>
              <a:rPr lang="en-US" sz="2600" dirty="0"/>
              <a:t>Builds social networking features, including in app chat and travel journals.</a:t>
            </a:r>
          </a:p>
          <a:p>
            <a:endParaRPr lang="en-US" dirty="0"/>
          </a:p>
          <a:p>
            <a:pPr marL="0" indent="0">
              <a:buNone/>
            </a:pPr>
            <a:r>
              <a:rPr lang="en-US" b="1" dirty="0"/>
              <a:t>Limitations:</a:t>
            </a:r>
          </a:p>
          <a:p>
            <a:r>
              <a:rPr lang="en-US" sz="2600" dirty="0"/>
              <a:t>High battery drain during continuous live tracking.</a:t>
            </a:r>
          </a:p>
          <a:p>
            <a:r>
              <a:rPr lang="en-US" sz="2600" dirty="0"/>
              <a:t>Fragmented architecture lacks strict separation of concerns, hindering scalability.</a:t>
            </a:r>
            <a:endParaRPr lang="en-IN" sz="2600" dirty="0"/>
          </a:p>
        </p:txBody>
      </p:sp>
    </p:spTree>
    <p:extLst>
      <p:ext uri="{BB962C8B-B14F-4D97-AF65-F5344CB8AC3E}">
        <p14:creationId xmlns:p14="http://schemas.microsoft.com/office/powerpoint/2010/main" val="744557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67904-A86C-A324-722B-86E6F096ED1E}"/>
              </a:ext>
            </a:extLst>
          </p:cNvPr>
          <p:cNvSpPr>
            <a:spLocks noGrp="1"/>
          </p:cNvSpPr>
          <p:nvPr>
            <p:ph type="title"/>
          </p:nvPr>
        </p:nvSpPr>
        <p:spPr/>
        <p:txBody>
          <a:bodyPr/>
          <a:lstStyle/>
          <a:p>
            <a:r>
              <a:rPr lang="en-IN" dirty="0"/>
              <a:t>Literature Review:</a:t>
            </a:r>
          </a:p>
        </p:txBody>
      </p:sp>
      <p:sp>
        <p:nvSpPr>
          <p:cNvPr id="3" name="Text Placeholder 2">
            <a:extLst>
              <a:ext uri="{FF2B5EF4-FFF2-40B4-BE49-F238E27FC236}">
                <a16:creationId xmlns:a16="http://schemas.microsoft.com/office/drawing/2014/main" id="{96B5DBCF-3A9A-540B-5273-A66258332B54}"/>
              </a:ext>
            </a:extLst>
          </p:cNvPr>
          <p:cNvSpPr>
            <a:spLocks noGrp="1"/>
          </p:cNvSpPr>
          <p:nvPr>
            <p:ph type="body" idx="1"/>
          </p:nvPr>
        </p:nvSpPr>
        <p:spPr/>
        <p:txBody>
          <a:bodyPr>
            <a:normAutofit fontScale="77500" lnSpcReduction="20000"/>
          </a:bodyPr>
          <a:lstStyle/>
          <a:p>
            <a:pPr marL="0" indent="0">
              <a:buNone/>
            </a:pPr>
            <a:r>
              <a:rPr lang="en-IN" sz="2600" b="1" dirty="0"/>
              <a:t>Traveler’s Navigator Application</a:t>
            </a:r>
            <a:endParaRPr lang="en-IN" sz="2600" dirty="0"/>
          </a:p>
          <a:p>
            <a:pPr marL="0" indent="0">
              <a:buNone/>
            </a:pPr>
            <a:r>
              <a:rPr lang="en-IN" sz="2600" b="1" dirty="0"/>
              <a:t>	Authors:</a:t>
            </a:r>
            <a:r>
              <a:rPr lang="en-IN" sz="2600" dirty="0"/>
              <a:t> Vishal Jaiswal, Krutika Shahane, Ojas Kund, Prerna Rathi</a:t>
            </a:r>
          </a:p>
          <a:p>
            <a:pPr marL="0" indent="0">
              <a:buNone/>
            </a:pPr>
            <a:r>
              <a:rPr lang="en-IN" sz="2600" b="1" dirty="0"/>
              <a:t>	Published Year:</a:t>
            </a:r>
            <a:r>
              <a:rPr lang="en-IN" sz="2600" dirty="0"/>
              <a:t> 2023 (IJERCSE)</a:t>
            </a:r>
          </a:p>
          <a:p>
            <a:pPr marL="0" indent="0" algn="ctr">
              <a:buNone/>
            </a:pPr>
            <a:endParaRPr lang="en-IN" dirty="0"/>
          </a:p>
          <a:p>
            <a:pPr marL="0" indent="0">
              <a:buNone/>
            </a:pPr>
            <a:r>
              <a:rPr lang="en-IN" b="1" dirty="0"/>
              <a:t>Functionality:</a:t>
            </a:r>
          </a:p>
          <a:p>
            <a:r>
              <a:rPr lang="en-IN" sz="2600" dirty="0"/>
              <a:t>Implements Map APIs for optimal pathfinding.</a:t>
            </a:r>
          </a:p>
          <a:p>
            <a:r>
              <a:rPr lang="en-IN" sz="2600" dirty="0"/>
              <a:t>Generates personalized, location-based recommendations.</a:t>
            </a:r>
          </a:p>
          <a:p>
            <a:r>
              <a:rPr lang="en-IN" sz="2600" dirty="0"/>
              <a:t>Connects users through built in social networking features.</a:t>
            </a:r>
          </a:p>
          <a:p>
            <a:pPr marL="0" indent="0">
              <a:buNone/>
            </a:pPr>
            <a:r>
              <a:rPr lang="en-IN" b="1" dirty="0"/>
              <a:t>Limitations:</a:t>
            </a:r>
          </a:p>
          <a:p>
            <a:r>
              <a:rPr lang="en-IN" dirty="0"/>
              <a:t>Relies heavily on static routing and rigid recommendation algorithms.</a:t>
            </a:r>
          </a:p>
          <a:p>
            <a:r>
              <a:rPr lang="en-IN" dirty="0"/>
              <a:t>Lacks offline first capabilities, rendering it unusable in low network travel zones.</a:t>
            </a:r>
          </a:p>
          <a:p>
            <a:r>
              <a:rPr lang="en-IN" dirty="0"/>
              <a:t>No generative AI context for dynamic travel budgeting or sudden itinerary shifts.</a:t>
            </a:r>
          </a:p>
        </p:txBody>
      </p:sp>
    </p:spTree>
    <p:extLst>
      <p:ext uri="{BB962C8B-B14F-4D97-AF65-F5344CB8AC3E}">
        <p14:creationId xmlns:p14="http://schemas.microsoft.com/office/powerpoint/2010/main" val="2882508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1EF07-4A35-4683-4C1E-492B53ABCA11}"/>
              </a:ext>
            </a:extLst>
          </p:cNvPr>
          <p:cNvSpPr>
            <a:spLocks noGrp="1"/>
          </p:cNvSpPr>
          <p:nvPr>
            <p:ph type="title"/>
          </p:nvPr>
        </p:nvSpPr>
        <p:spPr>
          <a:xfrm>
            <a:off x="838200" y="446471"/>
            <a:ext cx="10515600" cy="1325563"/>
          </a:xfrm>
        </p:spPr>
        <p:txBody>
          <a:bodyPr/>
          <a:lstStyle/>
          <a:p>
            <a:r>
              <a:rPr lang="en-IN" dirty="0"/>
              <a:t>Literature Review:</a:t>
            </a:r>
          </a:p>
        </p:txBody>
      </p:sp>
      <p:sp>
        <p:nvSpPr>
          <p:cNvPr id="3" name="Text Placeholder 2">
            <a:extLst>
              <a:ext uri="{FF2B5EF4-FFF2-40B4-BE49-F238E27FC236}">
                <a16:creationId xmlns:a16="http://schemas.microsoft.com/office/drawing/2014/main" id="{CF35C21F-712D-AFA9-D926-DECFF1BD40A0}"/>
              </a:ext>
            </a:extLst>
          </p:cNvPr>
          <p:cNvSpPr>
            <a:spLocks noGrp="1"/>
          </p:cNvSpPr>
          <p:nvPr>
            <p:ph type="body" idx="1"/>
          </p:nvPr>
        </p:nvSpPr>
        <p:spPr>
          <a:xfrm>
            <a:off x="838200" y="1772034"/>
            <a:ext cx="10515600" cy="4963063"/>
          </a:xfrm>
        </p:spPr>
        <p:txBody>
          <a:bodyPr>
            <a:normAutofit fontScale="92500" lnSpcReduction="10000"/>
          </a:bodyPr>
          <a:lstStyle/>
          <a:p>
            <a:pPr marL="0" indent="0" algn="just">
              <a:lnSpc>
                <a:spcPct val="120000"/>
              </a:lnSpc>
              <a:spcBef>
                <a:spcPts val="0"/>
              </a:spcBef>
              <a:buNone/>
            </a:pPr>
            <a:r>
              <a:rPr lang="en-US" sz="2200" b="1" dirty="0"/>
              <a:t>A Design and Structure of Travel SNS Application</a:t>
            </a:r>
            <a:endParaRPr lang="en-US" sz="2200" dirty="0"/>
          </a:p>
          <a:p>
            <a:pPr marL="0" indent="0" algn="just">
              <a:lnSpc>
                <a:spcPct val="120000"/>
              </a:lnSpc>
              <a:spcBef>
                <a:spcPts val="0"/>
              </a:spcBef>
              <a:buNone/>
            </a:pPr>
            <a:r>
              <a:rPr lang="en-US" sz="2200" b="1" dirty="0"/>
              <a:t>	Authors:</a:t>
            </a:r>
            <a:r>
              <a:rPr lang="en-US" sz="2200" dirty="0"/>
              <a:t> </a:t>
            </a:r>
            <a:r>
              <a:rPr lang="en-US" sz="2200" dirty="0" err="1"/>
              <a:t>Kyeonhoon</a:t>
            </a:r>
            <a:r>
              <a:rPr lang="en-US" sz="2200" dirty="0"/>
              <a:t> Kwak, Hankyu Lim</a:t>
            </a:r>
          </a:p>
          <a:p>
            <a:pPr marL="0" indent="0" algn="just">
              <a:lnSpc>
                <a:spcPct val="120000"/>
              </a:lnSpc>
              <a:spcBef>
                <a:spcPts val="0"/>
              </a:spcBef>
              <a:buNone/>
            </a:pPr>
            <a:r>
              <a:rPr lang="en-US" sz="2200" b="1" dirty="0"/>
              <a:t>	Published Year:</a:t>
            </a:r>
            <a:r>
              <a:rPr lang="en-US" sz="2200" dirty="0"/>
              <a:t> 2016 (NAUN)</a:t>
            </a:r>
          </a:p>
          <a:p>
            <a:pPr marL="0" indent="0" algn="just">
              <a:spcBef>
                <a:spcPts val="0"/>
              </a:spcBef>
              <a:buNone/>
            </a:pPr>
            <a:endParaRPr lang="en-US" sz="2000" dirty="0"/>
          </a:p>
          <a:p>
            <a:pPr marL="0" indent="0" algn="just">
              <a:lnSpc>
                <a:spcPct val="110000"/>
              </a:lnSpc>
              <a:buNone/>
            </a:pPr>
            <a:r>
              <a:rPr lang="en-US" sz="2400" b="1" dirty="0"/>
              <a:t>Functionality:</a:t>
            </a:r>
          </a:p>
          <a:p>
            <a:pPr algn="just">
              <a:lnSpc>
                <a:spcPct val="110000"/>
              </a:lnSpc>
            </a:pPr>
            <a:r>
              <a:rPr lang="en-US" sz="2200" dirty="0"/>
              <a:t>Targets backpackers by forming dedicated travel communities.</a:t>
            </a:r>
          </a:p>
          <a:p>
            <a:pPr algn="just">
              <a:lnSpc>
                <a:spcPct val="110000"/>
              </a:lnSpc>
            </a:pPr>
            <a:r>
              <a:rPr lang="en-US" sz="2200" dirty="0"/>
              <a:t>Captures continuous user ''footprints'' (live location tracking).</a:t>
            </a:r>
          </a:p>
          <a:p>
            <a:pPr algn="just">
              <a:lnSpc>
                <a:spcPct val="110000"/>
              </a:lnSpc>
            </a:pPr>
            <a:r>
              <a:rPr lang="en-US" sz="2200" dirty="0"/>
              <a:t>Streamlines the travel note and diary creation process.</a:t>
            </a:r>
          </a:p>
          <a:p>
            <a:pPr marL="0" indent="0" algn="just">
              <a:lnSpc>
                <a:spcPct val="110000"/>
              </a:lnSpc>
              <a:buNone/>
            </a:pPr>
            <a:r>
              <a:rPr lang="en-US" sz="2400" b="1" dirty="0"/>
              <a:t>Limitations:</a:t>
            </a:r>
          </a:p>
          <a:p>
            <a:pPr algn="just">
              <a:lnSpc>
                <a:spcPct val="110000"/>
              </a:lnSpc>
            </a:pPr>
            <a:r>
              <a:rPr lang="en-US" sz="2200" dirty="0"/>
              <a:t>Utilizing traditional databases for continuous ''footprint'' tracking triggers skyrocketing cloud read/write costs.</a:t>
            </a:r>
          </a:p>
          <a:p>
            <a:pPr algn="just">
              <a:lnSpc>
                <a:spcPct val="110000"/>
              </a:lnSpc>
            </a:pPr>
            <a:r>
              <a:rPr lang="en-US" sz="2200" dirty="0"/>
              <a:t>Economically unsustainable for a growing user base on free or low tier infrastructure.</a:t>
            </a:r>
            <a:endParaRPr lang="en-IN" sz="2200" dirty="0"/>
          </a:p>
        </p:txBody>
      </p:sp>
    </p:spTree>
    <p:extLst>
      <p:ext uri="{BB962C8B-B14F-4D97-AF65-F5344CB8AC3E}">
        <p14:creationId xmlns:p14="http://schemas.microsoft.com/office/powerpoint/2010/main" val="14340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AA946-4AC6-ED24-2EF4-7454BE142200}"/>
              </a:ext>
            </a:extLst>
          </p:cNvPr>
          <p:cNvSpPr>
            <a:spLocks noGrp="1"/>
          </p:cNvSpPr>
          <p:nvPr>
            <p:ph type="title"/>
          </p:nvPr>
        </p:nvSpPr>
        <p:spPr>
          <a:xfrm>
            <a:off x="838200" y="394621"/>
            <a:ext cx="10515600" cy="1325563"/>
          </a:xfrm>
        </p:spPr>
        <p:txBody>
          <a:bodyPr/>
          <a:lstStyle/>
          <a:p>
            <a:r>
              <a:rPr lang="en-US" dirty="0"/>
              <a:t>Literature Review:</a:t>
            </a:r>
            <a:endParaRPr lang="en-IN" dirty="0"/>
          </a:p>
        </p:txBody>
      </p:sp>
      <p:sp>
        <p:nvSpPr>
          <p:cNvPr id="3" name="Text Placeholder 2">
            <a:extLst>
              <a:ext uri="{FF2B5EF4-FFF2-40B4-BE49-F238E27FC236}">
                <a16:creationId xmlns:a16="http://schemas.microsoft.com/office/drawing/2014/main" id="{A8298522-027F-0794-0830-395000EC7773}"/>
              </a:ext>
            </a:extLst>
          </p:cNvPr>
          <p:cNvSpPr>
            <a:spLocks noGrp="1"/>
          </p:cNvSpPr>
          <p:nvPr>
            <p:ph type="body" idx="1"/>
          </p:nvPr>
        </p:nvSpPr>
        <p:spPr>
          <a:xfrm>
            <a:off x="838200" y="1825624"/>
            <a:ext cx="10515600" cy="5032375"/>
          </a:xfrm>
        </p:spPr>
        <p:txBody>
          <a:bodyPr>
            <a:normAutofit fontScale="77500" lnSpcReduction="20000"/>
          </a:bodyPr>
          <a:lstStyle/>
          <a:p>
            <a:pPr marL="0" indent="0">
              <a:lnSpc>
                <a:spcPct val="120000"/>
              </a:lnSpc>
              <a:buNone/>
            </a:pPr>
            <a:r>
              <a:rPr lang="en-IN" sz="2600" b="1" dirty="0"/>
              <a:t>Smart Travel Guide Application for Android</a:t>
            </a:r>
            <a:endParaRPr lang="en-IN" sz="2600" dirty="0"/>
          </a:p>
          <a:p>
            <a:pPr marL="0" indent="0">
              <a:lnSpc>
                <a:spcPct val="120000"/>
              </a:lnSpc>
              <a:buNone/>
            </a:pPr>
            <a:r>
              <a:rPr lang="en-IN" sz="2600" b="1" dirty="0"/>
              <a:t>	Authors:</a:t>
            </a:r>
            <a:r>
              <a:rPr lang="en-IN" sz="2600" dirty="0"/>
              <a:t> </a:t>
            </a:r>
            <a:r>
              <a:rPr lang="en-IN" sz="2600" dirty="0" err="1"/>
              <a:t>Deepthi.K</a:t>
            </a:r>
            <a:r>
              <a:rPr lang="en-IN" sz="2600" dirty="0"/>
              <a:t>, </a:t>
            </a:r>
            <a:r>
              <a:rPr lang="en-IN" sz="2600" dirty="0" err="1"/>
              <a:t>Gayathiri.M</a:t>
            </a:r>
            <a:r>
              <a:rPr lang="en-IN" sz="2600" dirty="0"/>
              <a:t>, Latha </a:t>
            </a:r>
            <a:r>
              <a:rPr lang="en-IN" sz="2600" dirty="0" err="1"/>
              <a:t>sree.P</a:t>
            </a:r>
            <a:r>
              <a:rPr lang="en-IN" sz="2600" dirty="0"/>
              <a:t>, Leena Raj</a:t>
            </a:r>
          </a:p>
          <a:p>
            <a:pPr marL="0" indent="0">
              <a:lnSpc>
                <a:spcPct val="120000"/>
              </a:lnSpc>
              <a:buNone/>
            </a:pPr>
            <a:r>
              <a:rPr lang="en-IN" sz="2600" b="1" dirty="0"/>
              <a:t>	Published Year:</a:t>
            </a:r>
            <a:r>
              <a:rPr lang="en-IN" sz="2600" dirty="0"/>
              <a:t> 2021 (JETIR)</a:t>
            </a:r>
          </a:p>
          <a:p>
            <a:pPr marL="0" indent="0">
              <a:buNone/>
            </a:pPr>
            <a:endParaRPr lang="en-US" dirty="0"/>
          </a:p>
          <a:p>
            <a:pPr marL="0" indent="0" algn="just">
              <a:lnSpc>
                <a:spcPct val="120000"/>
              </a:lnSpc>
              <a:buNone/>
            </a:pPr>
            <a:r>
              <a:rPr lang="en-US" b="1" dirty="0"/>
              <a:t>Functionality:</a:t>
            </a:r>
          </a:p>
          <a:p>
            <a:pPr algn="just">
              <a:lnSpc>
                <a:spcPct val="120000"/>
              </a:lnSpc>
            </a:pPr>
            <a:r>
              <a:rPr lang="en-US" sz="2600" dirty="0"/>
              <a:t> Architects a cohesive multifeatured guide.</a:t>
            </a:r>
          </a:p>
          <a:p>
            <a:pPr algn="just">
              <a:lnSpc>
                <a:spcPct val="120000"/>
              </a:lnSpc>
            </a:pPr>
            <a:r>
              <a:rPr lang="en-US" sz="2600" dirty="0"/>
              <a:t> Combines trip planning with continuous geolocation tracking.</a:t>
            </a:r>
          </a:p>
          <a:p>
            <a:pPr algn="just">
              <a:lnSpc>
                <a:spcPct val="120000"/>
              </a:lnSpc>
            </a:pPr>
            <a:r>
              <a:rPr lang="en-US" sz="2600" dirty="0"/>
              <a:t> Retrieves location-based information dynamically.</a:t>
            </a:r>
          </a:p>
          <a:p>
            <a:pPr marL="0" indent="0" algn="just">
              <a:lnSpc>
                <a:spcPct val="120000"/>
              </a:lnSpc>
              <a:buNone/>
            </a:pPr>
            <a:r>
              <a:rPr lang="en-US" b="1" dirty="0"/>
              <a:t>Limitations:</a:t>
            </a:r>
          </a:p>
          <a:p>
            <a:pPr algn="just">
              <a:lnSpc>
                <a:spcPct val="120000"/>
              </a:lnSpc>
            </a:pPr>
            <a:r>
              <a:rPr lang="en-US" sz="2600" dirty="0"/>
              <a:t> Tightly coupled codebase making it extremely difficult to maintain, test, or scale efficiently.</a:t>
            </a:r>
          </a:p>
          <a:p>
            <a:pPr algn="just">
              <a:lnSpc>
                <a:spcPct val="120000"/>
              </a:lnSpc>
            </a:pPr>
            <a:r>
              <a:rPr lang="en-US" sz="2600" dirty="0"/>
              <a:t> Suboptimal state management leads to UI lag during heavy data operations.</a:t>
            </a:r>
            <a:endParaRPr lang="en-IN" sz="2600" dirty="0"/>
          </a:p>
        </p:txBody>
      </p:sp>
    </p:spTree>
    <p:extLst>
      <p:ext uri="{BB962C8B-B14F-4D97-AF65-F5344CB8AC3E}">
        <p14:creationId xmlns:p14="http://schemas.microsoft.com/office/powerpoint/2010/main" val="245332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756A3-F586-929C-2CAD-B38CF21B5F6E}"/>
              </a:ext>
            </a:extLst>
          </p:cNvPr>
          <p:cNvSpPr>
            <a:spLocks noGrp="1"/>
          </p:cNvSpPr>
          <p:nvPr>
            <p:ph type="title"/>
          </p:nvPr>
        </p:nvSpPr>
        <p:spPr/>
        <p:txBody>
          <a:bodyPr/>
          <a:lstStyle/>
          <a:p>
            <a:r>
              <a:rPr lang="en-IN" dirty="0"/>
              <a:t>Literature Review:</a:t>
            </a:r>
          </a:p>
        </p:txBody>
      </p:sp>
      <p:sp>
        <p:nvSpPr>
          <p:cNvPr id="3" name="Text Placeholder 2">
            <a:extLst>
              <a:ext uri="{FF2B5EF4-FFF2-40B4-BE49-F238E27FC236}">
                <a16:creationId xmlns:a16="http://schemas.microsoft.com/office/drawing/2014/main" id="{0FE2DE63-9AA0-4841-0BC6-F597AF03E07E}"/>
              </a:ext>
            </a:extLst>
          </p:cNvPr>
          <p:cNvSpPr>
            <a:spLocks noGrp="1"/>
          </p:cNvSpPr>
          <p:nvPr>
            <p:ph type="body" idx="1"/>
          </p:nvPr>
        </p:nvSpPr>
        <p:spPr>
          <a:xfrm>
            <a:off x="838200" y="1690687"/>
            <a:ext cx="10515600" cy="4906757"/>
          </a:xfrm>
        </p:spPr>
        <p:txBody>
          <a:bodyPr>
            <a:noAutofit/>
          </a:bodyPr>
          <a:lstStyle/>
          <a:p>
            <a:pPr marL="0" indent="0" algn="just">
              <a:lnSpc>
                <a:spcPct val="100000"/>
              </a:lnSpc>
              <a:spcBef>
                <a:spcPts val="0"/>
              </a:spcBef>
              <a:buNone/>
            </a:pPr>
            <a:r>
              <a:rPr lang="en-IN" sz="2000" b="1" dirty="0"/>
              <a:t>Travel Diary Methodologies (Deriving Weeklong Activity-Travel Diary...)</a:t>
            </a:r>
            <a:endParaRPr lang="en-IN" sz="2000" dirty="0"/>
          </a:p>
          <a:p>
            <a:pPr marL="0" indent="0" algn="just">
              <a:lnSpc>
                <a:spcPct val="100000"/>
              </a:lnSpc>
              <a:spcBef>
                <a:spcPts val="0"/>
              </a:spcBef>
              <a:buNone/>
            </a:pPr>
            <a:r>
              <a:rPr lang="en-IN" sz="2000" b="1" dirty="0"/>
              <a:t>	Authors:</a:t>
            </a:r>
            <a:r>
              <a:rPr lang="en-IN" sz="2000" dirty="0"/>
              <a:t> Melvyn Li, Kaili Wang, </a:t>
            </a:r>
            <a:r>
              <a:rPr lang="en-IN" sz="2000" dirty="0" err="1"/>
              <a:t>Yicong</a:t>
            </a:r>
            <a:r>
              <a:rPr lang="en-IN" sz="2000" dirty="0"/>
              <a:t> Liu, </a:t>
            </a:r>
            <a:r>
              <a:rPr lang="en-IN" sz="2000" dirty="0" err="1"/>
              <a:t>Khandker</a:t>
            </a:r>
            <a:r>
              <a:rPr lang="en-IN" sz="2000" dirty="0"/>
              <a:t> Nurul Habib</a:t>
            </a:r>
          </a:p>
          <a:p>
            <a:pPr marL="0" indent="0" algn="just">
              <a:lnSpc>
                <a:spcPct val="100000"/>
              </a:lnSpc>
              <a:spcBef>
                <a:spcPts val="0"/>
              </a:spcBef>
              <a:buNone/>
            </a:pPr>
            <a:r>
              <a:rPr lang="en-IN" sz="2000" b="1" dirty="0"/>
              <a:t>	Published Year:</a:t>
            </a:r>
            <a:r>
              <a:rPr lang="en-IN" sz="2000" dirty="0"/>
              <a:t> 2023 (</a:t>
            </a:r>
            <a:r>
              <a:rPr lang="en-IN" sz="2000" dirty="0" err="1"/>
              <a:t>arXiv</a:t>
            </a:r>
            <a:r>
              <a:rPr lang="en-IN" sz="2000" dirty="0"/>
              <a:t>) / 2024 (Transportation Journal)</a:t>
            </a:r>
          </a:p>
          <a:p>
            <a:pPr marL="0" indent="0" algn="just">
              <a:lnSpc>
                <a:spcPct val="100000"/>
              </a:lnSpc>
              <a:spcBef>
                <a:spcPts val="0"/>
              </a:spcBef>
              <a:buNone/>
            </a:pPr>
            <a:endParaRPr lang="en-US" sz="2200" b="1" dirty="0"/>
          </a:p>
          <a:p>
            <a:pPr marL="0" indent="0" algn="just">
              <a:lnSpc>
                <a:spcPct val="100000"/>
              </a:lnSpc>
              <a:buNone/>
            </a:pPr>
            <a:r>
              <a:rPr lang="en-US" sz="2200" b="1" dirty="0"/>
              <a:t>Functionality:</a:t>
            </a:r>
          </a:p>
          <a:p>
            <a:pPr algn="just">
              <a:lnSpc>
                <a:spcPct val="100000"/>
              </a:lnSpc>
            </a:pPr>
            <a:r>
              <a:rPr lang="en-US" sz="2000" dirty="0"/>
              <a:t>Captures raw user movement autonomously via GPS.</a:t>
            </a:r>
          </a:p>
          <a:p>
            <a:pPr algn="just">
              <a:lnSpc>
                <a:spcPct val="100000"/>
              </a:lnSpc>
            </a:pPr>
            <a:r>
              <a:rPr lang="en-US" sz="2000" dirty="0"/>
              <a:t>Transforms raw location history into meaningful, annotated travel journals.</a:t>
            </a:r>
          </a:p>
          <a:p>
            <a:pPr marL="0" indent="0" algn="just">
              <a:lnSpc>
                <a:spcPct val="100000"/>
              </a:lnSpc>
              <a:buNone/>
            </a:pPr>
            <a:endParaRPr lang="en-US" sz="2000" dirty="0"/>
          </a:p>
          <a:p>
            <a:pPr marL="0" indent="0" algn="just">
              <a:lnSpc>
                <a:spcPct val="100000"/>
              </a:lnSpc>
              <a:buNone/>
            </a:pPr>
            <a:r>
              <a:rPr lang="en-US" sz="2200" b="1" dirty="0"/>
              <a:t>Limitations:</a:t>
            </a:r>
          </a:p>
          <a:p>
            <a:pPr algn="just">
              <a:lnSpc>
                <a:spcPct val="100000"/>
              </a:lnSpc>
            </a:pPr>
            <a:r>
              <a:rPr lang="en-US" sz="2000" dirty="0"/>
              <a:t> Heavy resource and processing consumption on the mobile device.</a:t>
            </a:r>
          </a:p>
          <a:p>
            <a:pPr algn="just">
              <a:lnSpc>
                <a:spcPct val="100000"/>
              </a:lnSpc>
            </a:pPr>
            <a:r>
              <a:rPr lang="en-US" sz="2000" dirty="0"/>
              <a:t> Fails to reconcile conflicting data when multiple users attempt to annotate shared trips offline.</a:t>
            </a:r>
            <a:endParaRPr lang="en-IN" sz="2000" dirty="0"/>
          </a:p>
        </p:txBody>
      </p:sp>
    </p:spTree>
    <p:extLst>
      <p:ext uri="{BB962C8B-B14F-4D97-AF65-F5344CB8AC3E}">
        <p14:creationId xmlns:p14="http://schemas.microsoft.com/office/powerpoint/2010/main" val="1763256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C7439-493C-60E0-7F03-1D822DF671F6}"/>
              </a:ext>
            </a:extLst>
          </p:cNvPr>
          <p:cNvSpPr>
            <a:spLocks noGrp="1"/>
          </p:cNvSpPr>
          <p:nvPr>
            <p:ph type="title"/>
          </p:nvPr>
        </p:nvSpPr>
        <p:spPr>
          <a:xfrm>
            <a:off x="838200" y="383458"/>
            <a:ext cx="10515600" cy="1325563"/>
          </a:xfrm>
        </p:spPr>
        <p:txBody>
          <a:bodyPr/>
          <a:lstStyle/>
          <a:p>
            <a:r>
              <a:rPr lang="en-IN" dirty="0"/>
              <a:t>Summary of Literature</a:t>
            </a:r>
          </a:p>
        </p:txBody>
      </p:sp>
      <p:sp>
        <p:nvSpPr>
          <p:cNvPr id="3" name="Text Placeholder 2">
            <a:extLst>
              <a:ext uri="{FF2B5EF4-FFF2-40B4-BE49-F238E27FC236}">
                <a16:creationId xmlns:a16="http://schemas.microsoft.com/office/drawing/2014/main" id="{E4D56AAE-B088-CE91-221F-042C76A5445A}"/>
              </a:ext>
            </a:extLst>
          </p:cNvPr>
          <p:cNvSpPr>
            <a:spLocks noGrp="1"/>
          </p:cNvSpPr>
          <p:nvPr>
            <p:ph type="body" idx="1"/>
          </p:nvPr>
        </p:nvSpPr>
        <p:spPr>
          <a:xfrm>
            <a:off x="838200" y="1630363"/>
            <a:ext cx="10515600" cy="5532437"/>
          </a:xfrm>
        </p:spPr>
        <p:txBody>
          <a:bodyPr>
            <a:normAutofit/>
          </a:bodyPr>
          <a:lstStyle/>
          <a:p>
            <a:pPr marL="0" indent="0" algn="just">
              <a:lnSpc>
                <a:spcPct val="120000"/>
              </a:lnSpc>
              <a:buNone/>
            </a:pPr>
            <a:r>
              <a:rPr lang="en-US" sz="2400" b="1" dirty="0"/>
              <a:t>Consolidated Analysis of Existing Research:</a:t>
            </a:r>
          </a:p>
          <a:p>
            <a:pPr marL="0" indent="0" algn="just">
              <a:lnSpc>
                <a:spcPct val="120000"/>
              </a:lnSpc>
              <a:buNone/>
            </a:pPr>
            <a:r>
              <a:rPr lang="en-US" sz="2000" dirty="0"/>
              <a:t>1. High Cloud Infrastructure Costs: Traditional databases fail under the weight of continuous GPS footprint tracking.</a:t>
            </a:r>
          </a:p>
          <a:p>
            <a:pPr marL="0" indent="0" algn="just">
              <a:lnSpc>
                <a:spcPct val="120000"/>
              </a:lnSpc>
              <a:buNone/>
            </a:pPr>
            <a:r>
              <a:rPr lang="en-US" sz="2000" dirty="0"/>
              <a:t>2. Monolithic Architectures: Existing solutions suffer from tightly coupled code, making them difficult to scale or test.</a:t>
            </a:r>
          </a:p>
          <a:p>
            <a:pPr marL="0" indent="0" algn="just">
              <a:lnSpc>
                <a:spcPct val="120000"/>
              </a:lnSpc>
              <a:buNone/>
            </a:pPr>
            <a:r>
              <a:rPr lang="en-US" sz="2000" dirty="0"/>
              <a:t>3. Network Dependency: Severe lack of robust offline first synchronization for remote travel environments.</a:t>
            </a:r>
          </a:p>
          <a:p>
            <a:pPr marL="0" indent="0" algn="just">
              <a:lnSpc>
                <a:spcPct val="120000"/>
              </a:lnSpc>
              <a:buNone/>
            </a:pPr>
            <a:r>
              <a:rPr lang="en-US" sz="2000" dirty="0"/>
              <a:t>4. Battery &amp; Resource Drain: Unoptimized background tracking algorithms heavily deplete mobile resources.</a:t>
            </a:r>
          </a:p>
          <a:p>
            <a:pPr marL="0" indent="0" algn="just">
              <a:lnSpc>
                <a:spcPct val="120000"/>
              </a:lnSpc>
              <a:buNone/>
            </a:pPr>
            <a:r>
              <a:rPr lang="en-US" sz="2000" dirty="0"/>
              <a:t>5. Intelligence Gap: Current apps provide static routing but lack conversational, context aware Generative AI for dynamic assistance.</a:t>
            </a:r>
            <a:endParaRPr lang="en-IN" sz="2000" dirty="0"/>
          </a:p>
        </p:txBody>
      </p:sp>
    </p:spTree>
    <p:extLst>
      <p:ext uri="{BB962C8B-B14F-4D97-AF65-F5344CB8AC3E}">
        <p14:creationId xmlns:p14="http://schemas.microsoft.com/office/powerpoint/2010/main" val="2223621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EF1A9-BAE3-587A-9A9B-8F59E1C3306E}"/>
              </a:ext>
            </a:extLst>
          </p:cNvPr>
          <p:cNvSpPr>
            <a:spLocks noGrp="1"/>
          </p:cNvSpPr>
          <p:nvPr>
            <p:ph type="title"/>
          </p:nvPr>
        </p:nvSpPr>
        <p:spPr/>
        <p:txBody>
          <a:bodyPr/>
          <a:lstStyle/>
          <a:p>
            <a:r>
              <a:rPr lang="en-IN" dirty="0"/>
              <a:t>Existing System</a:t>
            </a:r>
          </a:p>
        </p:txBody>
      </p:sp>
      <p:sp>
        <p:nvSpPr>
          <p:cNvPr id="3" name="Text Placeholder 2">
            <a:extLst>
              <a:ext uri="{FF2B5EF4-FFF2-40B4-BE49-F238E27FC236}">
                <a16:creationId xmlns:a16="http://schemas.microsoft.com/office/drawing/2014/main" id="{9DDFC71A-072F-AA7C-71EE-A2929B158B0C}"/>
              </a:ext>
            </a:extLst>
          </p:cNvPr>
          <p:cNvSpPr>
            <a:spLocks noGrp="1"/>
          </p:cNvSpPr>
          <p:nvPr>
            <p:ph type="body" idx="1"/>
          </p:nvPr>
        </p:nvSpPr>
        <p:spPr>
          <a:xfrm>
            <a:off x="838200" y="1690688"/>
            <a:ext cx="10515600" cy="4351338"/>
          </a:xfrm>
        </p:spPr>
        <p:txBody>
          <a:bodyPr>
            <a:normAutofit/>
          </a:bodyPr>
          <a:lstStyle/>
          <a:p>
            <a:pPr marL="0" indent="0" algn="just">
              <a:lnSpc>
                <a:spcPct val="150000"/>
              </a:lnSpc>
              <a:buNone/>
            </a:pPr>
            <a:r>
              <a:rPr lang="en-US" sz="2000" dirty="0"/>
              <a:t>Existing real-world systems rely on fragmented applications, forcing users to constantly juggle separate apps to manage their travel needs such as using WhatsApp for chatting, Google Maps for routing, and Notes for keeping travel diaries.</a:t>
            </a:r>
          </a:p>
          <a:p>
            <a:pPr marL="0" indent="0" algn="just">
              <a:buNone/>
            </a:pPr>
            <a:endParaRPr lang="en-US" sz="2000" dirty="0"/>
          </a:p>
          <a:p>
            <a:pPr marL="0" indent="0">
              <a:buNone/>
            </a:pPr>
            <a:r>
              <a:rPr lang="en-US" sz="2400" b="1" dirty="0"/>
              <a:t>Disadvantages:</a:t>
            </a:r>
          </a:p>
          <a:p>
            <a:pPr algn="just"/>
            <a:r>
              <a:rPr lang="en-US" sz="2000" dirty="0"/>
              <a:t>Travelers are forced to use multiple, disconnected apps for planning, socializing, navigation, and journaling, leading to a frustrating experience.</a:t>
            </a:r>
          </a:p>
          <a:p>
            <a:pPr algn="just"/>
            <a:r>
              <a:rPr lang="en-US" sz="2000" dirty="0"/>
              <a:t>these tools don't communicate, AI assistants lack personal trip context, and social platforms lack structured trip organization.</a:t>
            </a:r>
          </a:p>
          <a:p>
            <a:pPr algn="just"/>
            <a:r>
              <a:rPr lang="en-US" sz="2000" dirty="0"/>
              <a:t>Inability to adapt to live travel changes without manual user intervention and multiple app switches.</a:t>
            </a:r>
            <a:endParaRPr lang="en-IN" sz="2000" dirty="0"/>
          </a:p>
        </p:txBody>
      </p:sp>
    </p:spTree>
    <p:extLst>
      <p:ext uri="{BB962C8B-B14F-4D97-AF65-F5344CB8AC3E}">
        <p14:creationId xmlns:p14="http://schemas.microsoft.com/office/powerpoint/2010/main" val="4087192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C8423-BBD9-0F79-360D-B744A15D197D}"/>
              </a:ext>
            </a:extLst>
          </p:cNvPr>
          <p:cNvSpPr>
            <a:spLocks noGrp="1"/>
          </p:cNvSpPr>
          <p:nvPr>
            <p:ph type="title"/>
          </p:nvPr>
        </p:nvSpPr>
        <p:spPr/>
        <p:txBody>
          <a:bodyPr/>
          <a:lstStyle/>
          <a:p>
            <a:r>
              <a:rPr lang="en-IN" dirty="0"/>
              <a:t>Proposed System: TripGUY</a:t>
            </a:r>
          </a:p>
        </p:txBody>
      </p:sp>
      <p:sp>
        <p:nvSpPr>
          <p:cNvPr id="3" name="Text Placeholder 2">
            <a:extLst>
              <a:ext uri="{FF2B5EF4-FFF2-40B4-BE49-F238E27FC236}">
                <a16:creationId xmlns:a16="http://schemas.microsoft.com/office/drawing/2014/main" id="{5E6DE88D-08BE-96CA-179B-99AD38748E3C}"/>
              </a:ext>
            </a:extLst>
          </p:cNvPr>
          <p:cNvSpPr>
            <a:spLocks noGrp="1"/>
          </p:cNvSpPr>
          <p:nvPr>
            <p:ph type="body" idx="1"/>
          </p:nvPr>
        </p:nvSpPr>
        <p:spPr>
          <a:xfrm>
            <a:off x="838200" y="1563738"/>
            <a:ext cx="10515600" cy="5294262"/>
          </a:xfrm>
        </p:spPr>
        <p:txBody>
          <a:bodyPr>
            <a:normAutofit lnSpcReduction="10000"/>
          </a:bodyPr>
          <a:lstStyle/>
          <a:p>
            <a:pPr marL="0" indent="0" algn="just">
              <a:lnSpc>
                <a:spcPct val="150000"/>
              </a:lnSpc>
              <a:buNone/>
            </a:pPr>
            <a:r>
              <a:rPr lang="en-US" sz="2000" dirty="0"/>
              <a:t>TripGUY unifies travel management through a testable Clean Architecture, utilizing cost-optimized Firebase live tracking and offline-first caching for seamless use in zero-network zones. Additionally, the system embeds context-aware Google Gemini AI to dynamically resolve routing constraints, budgets, and emergencies.</a:t>
            </a:r>
          </a:p>
          <a:p>
            <a:pPr marL="0" indent="0" algn="just">
              <a:lnSpc>
                <a:spcPct val="110000"/>
              </a:lnSpc>
              <a:buNone/>
            </a:pPr>
            <a:endParaRPr lang="en-US" sz="2200" dirty="0"/>
          </a:p>
          <a:p>
            <a:pPr marL="0" indent="0" algn="just">
              <a:lnSpc>
                <a:spcPct val="110000"/>
              </a:lnSpc>
              <a:buNone/>
            </a:pPr>
            <a:r>
              <a:rPr lang="en-US" sz="2400" b="1" dirty="0"/>
              <a:t>Advantages:</a:t>
            </a:r>
          </a:p>
          <a:p>
            <a:pPr algn="just">
              <a:lnSpc>
                <a:spcPct val="110000"/>
              </a:lnSpc>
            </a:pPr>
            <a:r>
              <a:rPr lang="en-US" sz="2000" dirty="0"/>
              <a:t>Consolidates planning, social features, diaries, and AI into one high-performance Flutter app for iOS and Android.</a:t>
            </a:r>
          </a:p>
          <a:p>
            <a:pPr algn="just">
              <a:lnSpc>
                <a:spcPct val="110000"/>
              </a:lnSpc>
            </a:pPr>
            <a:r>
              <a:rPr lang="en-US" sz="2000" dirty="0"/>
              <a:t>Delivers interactive 3D vector maps, routing, and POI discovery using </a:t>
            </a:r>
            <a:r>
              <a:rPr lang="en-US" sz="2000" dirty="0" err="1"/>
              <a:t>MapLibre</a:t>
            </a:r>
            <a:r>
              <a:rPr lang="en-US" sz="2000" dirty="0"/>
              <a:t> GL and open-source APIs instead of expensive proprietary services.</a:t>
            </a:r>
          </a:p>
          <a:p>
            <a:pPr algn="just">
              <a:lnSpc>
                <a:spcPct val="110000"/>
              </a:lnSpc>
            </a:pPr>
            <a:r>
              <a:rPr lang="en-US" sz="2000" dirty="0"/>
              <a:t>Drastically reduces cloud expenses by utilizing free map tools and storing diary photos as Base64 strings to bypass Firebase Storage fees</a:t>
            </a:r>
            <a:endParaRPr lang="en-IN" sz="2000" dirty="0"/>
          </a:p>
        </p:txBody>
      </p:sp>
    </p:spTree>
    <p:extLst>
      <p:ext uri="{BB962C8B-B14F-4D97-AF65-F5344CB8AC3E}">
        <p14:creationId xmlns:p14="http://schemas.microsoft.com/office/powerpoint/2010/main" val="1584077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4AB8793-D002-F445-2C1B-7CF2D46CC1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9987" y="0"/>
            <a:ext cx="7502013" cy="6858000"/>
          </a:xfrm>
          <a:prstGeom prst="rect">
            <a:avLst/>
          </a:prstGeom>
        </p:spPr>
      </p:pic>
      <p:sp>
        <p:nvSpPr>
          <p:cNvPr id="2" name="Title 1">
            <a:extLst>
              <a:ext uri="{FF2B5EF4-FFF2-40B4-BE49-F238E27FC236}">
                <a16:creationId xmlns:a16="http://schemas.microsoft.com/office/drawing/2014/main" id="{2CBC15C7-AC47-CBC1-DDD6-8AA76FFA72C0}"/>
              </a:ext>
            </a:extLst>
          </p:cNvPr>
          <p:cNvSpPr>
            <a:spLocks noGrp="1"/>
          </p:cNvSpPr>
          <p:nvPr>
            <p:ph type="title"/>
          </p:nvPr>
        </p:nvSpPr>
        <p:spPr>
          <a:xfrm>
            <a:off x="127820" y="325796"/>
            <a:ext cx="10515600" cy="1325563"/>
          </a:xfrm>
        </p:spPr>
        <p:txBody>
          <a:bodyPr/>
          <a:lstStyle/>
          <a:p>
            <a:r>
              <a:rPr lang="en-IN" dirty="0"/>
              <a:t>Architecture Diagram</a:t>
            </a:r>
          </a:p>
        </p:txBody>
      </p:sp>
    </p:spTree>
    <p:extLst>
      <p:ext uri="{BB962C8B-B14F-4D97-AF65-F5344CB8AC3E}">
        <p14:creationId xmlns:p14="http://schemas.microsoft.com/office/powerpoint/2010/main" val="982078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C57A5-201C-BBAA-885D-7F28622FE41A}"/>
              </a:ext>
            </a:extLst>
          </p:cNvPr>
          <p:cNvSpPr>
            <a:spLocks noGrp="1"/>
          </p:cNvSpPr>
          <p:nvPr>
            <p:ph type="title"/>
          </p:nvPr>
        </p:nvSpPr>
        <p:spPr/>
        <p:txBody>
          <a:bodyPr/>
          <a:lstStyle/>
          <a:p>
            <a:r>
              <a:rPr lang="en-IN" dirty="0"/>
              <a:t>Implementation</a:t>
            </a:r>
          </a:p>
        </p:txBody>
      </p:sp>
      <p:sp>
        <p:nvSpPr>
          <p:cNvPr id="3" name="Text Placeholder 2">
            <a:extLst>
              <a:ext uri="{FF2B5EF4-FFF2-40B4-BE49-F238E27FC236}">
                <a16:creationId xmlns:a16="http://schemas.microsoft.com/office/drawing/2014/main" id="{24220ED6-0CBD-7A3A-8872-54313D65E137}"/>
              </a:ext>
            </a:extLst>
          </p:cNvPr>
          <p:cNvSpPr>
            <a:spLocks noGrp="1"/>
          </p:cNvSpPr>
          <p:nvPr>
            <p:ph type="body" idx="1"/>
          </p:nvPr>
        </p:nvSpPr>
        <p:spPr>
          <a:xfrm>
            <a:off x="838200" y="1680395"/>
            <a:ext cx="10515600" cy="5073906"/>
          </a:xfrm>
        </p:spPr>
        <p:txBody>
          <a:bodyPr>
            <a:normAutofit fontScale="85000" lnSpcReduction="20000"/>
          </a:bodyPr>
          <a:lstStyle/>
          <a:p>
            <a:pPr algn="just">
              <a:lnSpc>
                <a:spcPct val="150000"/>
              </a:lnSpc>
            </a:pPr>
            <a:r>
              <a:rPr lang="en-IN" sz="2400" dirty="0"/>
              <a:t>Programming Language: Dart.</a:t>
            </a:r>
          </a:p>
          <a:p>
            <a:pPr algn="just">
              <a:lnSpc>
                <a:spcPct val="150000"/>
              </a:lnSpc>
            </a:pPr>
            <a:r>
              <a:rPr lang="en-IN" sz="2400" dirty="0"/>
              <a:t>Frontend SDK: Flutter SDK, utilizing </a:t>
            </a:r>
            <a:r>
              <a:rPr lang="en-IN" sz="2400" dirty="0" err="1"/>
              <a:t>BLoC</a:t>
            </a:r>
            <a:r>
              <a:rPr lang="en-IN" sz="2400" dirty="0"/>
              <a:t> for state management and </a:t>
            </a:r>
            <a:r>
              <a:rPr lang="en-IN" sz="2400" dirty="0" err="1"/>
              <a:t>MapLibre</a:t>
            </a:r>
            <a:r>
              <a:rPr lang="en-IN" sz="2400" dirty="0"/>
              <a:t> GL for native OpenGL ES map rendering.</a:t>
            </a:r>
          </a:p>
          <a:p>
            <a:pPr algn="just">
              <a:lnSpc>
                <a:spcPct val="150000"/>
              </a:lnSpc>
            </a:pPr>
            <a:r>
              <a:rPr lang="en-IN" sz="2400" dirty="0"/>
              <a:t>Backend Services: Google Firebase (Cloud </a:t>
            </a:r>
            <a:r>
              <a:rPr lang="en-IN" sz="2400" dirty="0" err="1"/>
              <a:t>Firestore</a:t>
            </a:r>
            <a:r>
              <a:rPr lang="en-IN" sz="2400" dirty="0"/>
              <a:t>, Authentication, and Cloud Messaging). Note: Firebase Storage was phased out in </a:t>
            </a:r>
            <a:r>
              <a:rPr lang="en-IN" sz="2400" dirty="0" err="1"/>
              <a:t>favor</a:t>
            </a:r>
            <a:r>
              <a:rPr lang="en-IN" sz="2400" dirty="0"/>
              <a:t> of Base64 encoding to reduce costs.</a:t>
            </a:r>
          </a:p>
          <a:p>
            <a:pPr algn="just">
              <a:lnSpc>
                <a:spcPct val="150000"/>
              </a:lnSpc>
            </a:pPr>
            <a:r>
              <a:rPr lang="en-IN" sz="2400" dirty="0"/>
              <a:t>External APIs &amp; Integrations: Google Gemini Pro (AI Assistant), </a:t>
            </a:r>
            <a:r>
              <a:rPr lang="en-IN" sz="2400" dirty="0" err="1"/>
              <a:t>EmailJS</a:t>
            </a:r>
            <a:r>
              <a:rPr lang="en-IN" sz="2400" dirty="0"/>
              <a:t> (OTP Verification), </a:t>
            </a:r>
            <a:r>
              <a:rPr lang="en-IN" sz="2400" dirty="0" err="1"/>
              <a:t>OpenFreeMap</a:t>
            </a:r>
            <a:r>
              <a:rPr lang="en-IN" sz="2400" dirty="0"/>
              <a:t>, Overpass API, and OSRM (Routing).</a:t>
            </a:r>
          </a:p>
          <a:p>
            <a:pPr algn="just">
              <a:lnSpc>
                <a:spcPct val="150000"/>
              </a:lnSpc>
            </a:pPr>
            <a:r>
              <a:rPr lang="en-IN" sz="2400" dirty="0"/>
              <a:t>DevOps &amp; IDE: GitHub Actions for CI/CD, developed using Visual Studio Code / Android Studio.</a:t>
            </a:r>
          </a:p>
          <a:p>
            <a:pPr algn="just">
              <a:lnSpc>
                <a:spcPct val="150000"/>
              </a:lnSpc>
            </a:pPr>
            <a:r>
              <a:rPr lang="en-IN" sz="2400" dirty="0"/>
              <a:t>Hardware Requirements: Standard Android (</a:t>
            </a:r>
            <a:r>
              <a:rPr lang="en-IN" sz="2400" dirty="0" err="1"/>
              <a:t>minSdk</a:t>
            </a:r>
            <a:r>
              <a:rPr lang="en-IN" sz="2400" dirty="0"/>
              <a:t> 21+) and iOS mobile devices for deployment.</a:t>
            </a:r>
          </a:p>
        </p:txBody>
      </p:sp>
    </p:spTree>
    <p:extLst>
      <p:ext uri="{BB962C8B-B14F-4D97-AF65-F5344CB8AC3E}">
        <p14:creationId xmlns:p14="http://schemas.microsoft.com/office/powerpoint/2010/main" val="22933501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A8943-D347-F6A6-5F8A-B6939143D1AE}"/>
              </a:ext>
            </a:extLst>
          </p:cNvPr>
          <p:cNvSpPr>
            <a:spLocks noGrp="1"/>
          </p:cNvSpPr>
          <p:nvPr>
            <p:ph type="title"/>
          </p:nvPr>
        </p:nvSpPr>
        <p:spPr/>
        <p:txBody>
          <a:bodyPr/>
          <a:lstStyle/>
          <a:p>
            <a:r>
              <a:rPr lang="en-US" dirty="0"/>
              <a:t>Module 1: User Account &amp; Authentication</a:t>
            </a:r>
            <a:endParaRPr lang="en-IN" dirty="0"/>
          </a:p>
        </p:txBody>
      </p:sp>
      <p:sp>
        <p:nvSpPr>
          <p:cNvPr id="3" name="Text Placeholder 2">
            <a:extLst>
              <a:ext uri="{FF2B5EF4-FFF2-40B4-BE49-F238E27FC236}">
                <a16:creationId xmlns:a16="http://schemas.microsoft.com/office/drawing/2014/main" id="{B6FC4322-20D2-8350-FB89-8729697CB233}"/>
              </a:ext>
            </a:extLst>
          </p:cNvPr>
          <p:cNvSpPr>
            <a:spLocks noGrp="1"/>
          </p:cNvSpPr>
          <p:nvPr>
            <p:ph type="body" idx="1"/>
          </p:nvPr>
        </p:nvSpPr>
        <p:spPr>
          <a:xfrm>
            <a:off x="838200" y="1690688"/>
            <a:ext cx="10515600" cy="4002189"/>
          </a:xfrm>
        </p:spPr>
        <p:txBody>
          <a:bodyPr>
            <a:normAutofit lnSpcReduction="10000"/>
          </a:bodyPr>
          <a:lstStyle/>
          <a:p>
            <a:pPr marL="0" indent="0" algn="just">
              <a:lnSpc>
                <a:spcPct val="150000"/>
              </a:lnSpc>
              <a:buNone/>
            </a:pPr>
            <a:r>
              <a:rPr lang="en-US" sz="2000" b="1" dirty="0"/>
              <a:t>Authentication Gateway: </a:t>
            </a:r>
            <a:r>
              <a:rPr lang="en-US" sz="2000" dirty="0"/>
              <a:t>Secure, OTP-gated registration and login using Firebase Auth and </a:t>
            </a:r>
            <a:r>
              <a:rPr lang="en-US" sz="2000" dirty="0" err="1"/>
              <a:t>EmailJS</a:t>
            </a:r>
            <a:r>
              <a:rPr lang="en-US" sz="2000" dirty="0"/>
              <a:t> to completely prevent duplicate accounts.</a:t>
            </a:r>
          </a:p>
          <a:p>
            <a:pPr marL="0" indent="0" algn="just">
              <a:lnSpc>
                <a:spcPct val="150000"/>
              </a:lnSpc>
              <a:buNone/>
            </a:pPr>
            <a:endParaRPr lang="en-US" sz="2000" dirty="0"/>
          </a:p>
          <a:p>
            <a:pPr marL="0" indent="0" algn="just">
              <a:lnSpc>
                <a:spcPct val="150000"/>
              </a:lnSpc>
              <a:buNone/>
            </a:pPr>
            <a:r>
              <a:rPr lang="en-US" sz="2000" b="1" dirty="0"/>
              <a:t>Profile Management: </a:t>
            </a:r>
            <a:r>
              <a:rPr lang="en-US" sz="2000" dirty="0"/>
              <a:t>Guided onboarding allows users to set unique usernames, bios, and upload Base64 profile pictures directly to </a:t>
            </a:r>
            <a:r>
              <a:rPr lang="en-US" sz="2000" dirty="0" err="1"/>
              <a:t>Firestore</a:t>
            </a:r>
            <a:r>
              <a:rPr lang="en-US" sz="2000" dirty="0"/>
              <a:t>.</a:t>
            </a:r>
          </a:p>
          <a:p>
            <a:pPr marL="0" indent="0" algn="just">
              <a:lnSpc>
                <a:spcPct val="150000"/>
              </a:lnSpc>
              <a:buNone/>
            </a:pPr>
            <a:endParaRPr lang="en-US" sz="2000" dirty="0"/>
          </a:p>
          <a:p>
            <a:pPr marL="0" indent="0" algn="just">
              <a:lnSpc>
                <a:spcPct val="150000"/>
              </a:lnSpc>
              <a:buNone/>
            </a:pPr>
            <a:r>
              <a:rPr lang="en-US" sz="2000" b="1" dirty="0"/>
              <a:t>Privacy Controls:</a:t>
            </a:r>
            <a:r>
              <a:rPr lang="en-US" sz="2000" dirty="0"/>
              <a:t> Robust settings to toggle trip visibility between Public, Friends-Only, and Private, heavily secured by </a:t>
            </a:r>
            <a:r>
              <a:rPr lang="en-US" sz="2000" dirty="0" err="1"/>
              <a:t>Firestore</a:t>
            </a:r>
            <a:r>
              <a:rPr lang="en-US" sz="2000" dirty="0"/>
              <a:t> Rules.</a:t>
            </a:r>
            <a:endParaRPr lang="en-IN" sz="2000" dirty="0"/>
          </a:p>
        </p:txBody>
      </p:sp>
    </p:spTree>
    <p:extLst>
      <p:ext uri="{BB962C8B-B14F-4D97-AF65-F5344CB8AC3E}">
        <p14:creationId xmlns:p14="http://schemas.microsoft.com/office/powerpoint/2010/main" val="21973283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5C0C2-8DF1-4AE9-9498-373D729FD2B5}"/>
              </a:ext>
            </a:extLst>
          </p:cNvPr>
          <p:cNvSpPr>
            <a:spLocks noGrp="1"/>
          </p:cNvSpPr>
          <p:nvPr>
            <p:ph type="title"/>
          </p:nvPr>
        </p:nvSpPr>
        <p:spPr/>
        <p:txBody>
          <a:bodyPr/>
          <a:lstStyle/>
          <a:p>
            <a:r>
              <a:rPr lang="en-IN" dirty="0"/>
              <a:t>Module 2: Trip Management &amp; Travel Diary</a:t>
            </a:r>
          </a:p>
        </p:txBody>
      </p:sp>
      <p:sp>
        <p:nvSpPr>
          <p:cNvPr id="3" name="Text Placeholder 2">
            <a:extLst>
              <a:ext uri="{FF2B5EF4-FFF2-40B4-BE49-F238E27FC236}">
                <a16:creationId xmlns:a16="http://schemas.microsoft.com/office/drawing/2014/main" id="{23423E45-EACE-4C90-5876-BE23AF761F5C}"/>
              </a:ext>
            </a:extLst>
          </p:cNvPr>
          <p:cNvSpPr>
            <a:spLocks noGrp="1"/>
          </p:cNvSpPr>
          <p:nvPr>
            <p:ph type="body" idx="1"/>
          </p:nvPr>
        </p:nvSpPr>
        <p:spPr>
          <a:xfrm>
            <a:off x="838200" y="1690688"/>
            <a:ext cx="10515600" cy="4582293"/>
          </a:xfrm>
        </p:spPr>
        <p:txBody>
          <a:bodyPr>
            <a:normAutofit/>
          </a:bodyPr>
          <a:lstStyle/>
          <a:p>
            <a:pPr marL="0" indent="0" algn="just">
              <a:lnSpc>
                <a:spcPct val="150000"/>
              </a:lnSpc>
              <a:buNone/>
            </a:pPr>
            <a:r>
              <a:rPr lang="en-US" sz="2000" b="1" dirty="0"/>
              <a:t>Trip Creation &amp; Sharing: </a:t>
            </a:r>
            <a:r>
              <a:rPr lang="en-US" sz="2000" dirty="0"/>
              <a:t>Dynamic forms to post new trips with strict validation, alongside one-tap social sharing via WhatsApp and SMS deep-links.</a:t>
            </a:r>
          </a:p>
          <a:p>
            <a:pPr marL="0" indent="0" algn="just">
              <a:lnSpc>
                <a:spcPct val="150000"/>
              </a:lnSpc>
              <a:buNone/>
            </a:pPr>
            <a:endParaRPr lang="en-US" sz="2000" dirty="0"/>
          </a:p>
          <a:p>
            <a:pPr marL="0" indent="0" algn="just">
              <a:lnSpc>
                <a:spcPct val="150000"/>
              </a:lnSpc>
              <a:buNone/>
            </a:pPr>
            <a:r>
              <a:rPr lang="en-US" sz="2000" b="1" dirty="0"/>
              <a:t>Interactive Diary: </a:t>
            </a:r>
            <a:r>
              <a:rPr lang="en-US" sz="2000" dirty="0"/>
              <a:t>A timeline-based UI allowing users to document their journey with rich text, mood/weather metadata, and Base64 image uploads.</a:t>
            </a:r>
          </a:p>
          <a:p>
            <a:pPr marL="0" indent="0" algn="just">
              <a:lnSpc>
                <a:spcPct val="150000"/>
              </a:lnSpc>
              <a:buNone/>
            </a:pPr>
            <a:endParaRPr lang="en-US" sz="2000" dirty="0"/>
          </a:p>
          <a:p>
            <a:pPr marL="0" indent="0" algn="just">
              <a:lnSpc>
                <a:spcPct val="150000"/>
              </a:lnSpc>
              <a:buNone/>
            </a:pPr>
            <a:r>
              <a:rPr lang="en-US" sz="2000" b="1" dirty="0"/>
              <a:t>Offline-First Architecture: </a:t>
            </a:r>
            <a:r>
              <a:rPr lang="en-US" sz="2000" dirty="0"/>
              <a:t>Utilizes local caching to ensure users can log diary entries in zero-network zones, synchronizing automatically when reconnected.</a:t>
            </a:r>
            <a:endParaRPr lang="en-IN" sz="2000" dirty="0"/>
          </a:p>
        </p:txBody>
      </p:sp>
    </p:spTree>
    <p:extLst>
      <p:ext uri="{BB962C8B-B14F-4D97-AF65-F5344CB8AC3E}">
        <p14:creationId xmlns:p14="http://schemas.microsoft.com/office/powerpoint/2010/main" val="28789192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F3D6F-D36F-23AC-9346-35B3655A99E3}"/>
              </a:ext>
            </a:extLst>
          </p:cNvPr>
          <p:cNvSpPr>
            <a:spLocks noGrp="1"/>
          </p:cNvSpPr>
          <p:nvPr>
            <p:ph type="title"/>
          </p:nvPr>
        </p:nvSpPr>
        <p:spPr>
          <a:xfrm>
            <a:off x="838200" y="365125"/>
            <a:ext cx="11353800" cy="1325563"/>
          </a:xfrm>
        </p:spPr>
        <p:txBody>
          <a:bodyPr/>
          <a:lstStyle/>
          <a:p>
            <a:r>
              <a:rPr lang="en-US" dirty="0"/>
              <a:t>Module 3: Real-Time Geolocation &amp; Messaging</a:t>
            </a:r>
            <a:endParaRPr lang="en-IN" dirty="0"/>
          </a:p>
        </p:txBody>
      </p:sp>
      <p:sp>
        <p:nvSpPr>
          <p:cNvPr id="3" name="Text Placeholder 2">
            <a:extLst>
              <a:ext uri="{FF2B5EF4-FFF2-40B4-BE49-F238E27FC236}">
                <a16:creationId xmlns:a16="http://schemas.microsoft.com/office/drawing/2014/main" id="{6A7DDD44-7687-E9A2-589A-44437E8CA57D}"/>
              </a:ext>
            </a:extLst>
          </p:cNvPr>
          <p:cNvSpPr>
            <a:spLocks noGrp="1"/>
          </p:cNvSpPr>
          <p:nvPr>
            <p:ph type="body" idx="1"/>
          </p:nvPr>
        </p:nvSpPr>
        <p:spPr>
          <a:xfrm>
            <a:off x="838200" y="1690688"/>
            <a:ext cx="10515600" cy="4712826"/>
          </a:xfrm>
        </p:spPr>
        <p:txBody>
          <a:bodyPr>
            <a:normAutofit/>
          </a:bodyPr>
          <a:lstStyle/>
          <a:p>
            <a:pPr marL="0" indent="0" algn="just">
              <a:lnSpc>
                <a:spcPct val="150000"/>
              </a:lnSpc>
              <a:buNone/>
            </a:pPr>
            <a:r>
              <a:rPr lang="en-US" sz="2000" b="1" dirty="0"/>
              <a:t>Advanced Live Navigator: </a:t>
            </a:r>
            <a:r>
              <a:rPr lang="en-US" sz="2000" dirty="0"/>
              <a:t>Upgraded to </a:t>
            </a:r>
            <a:r>
              <a:rPr lang="en-US" sz="2000" dirty="0" err="1"/>
              <a:t>MapLibre</a:t>
            </a:r>
            <a:r>
              <a:rPr lang="en-US" sz="2000" dirty="0"/>
              <a:t> GL for high-performance, native OpenGL ES vector maps featuring 3D buildings and turn-by-turn routing.</a:t>
            </a:r>
          </a:p>
          <a:p>
            <a:pPr marL="0" indent="0" algn="just">
              <a:lnSpc>
                <a:spcPct val="150000"/>
              </a:lnSpc>
              <a:buNone/>
            </a:pPr>
            <a:endParaRPr lang="en-US" sz="2000" dirty="0"/>
          </a:p>
          <a:p>
            <a:pPr marL="0" indent="0" algn="just">
              <a:lnSpc>
                <a:spcPct val="150000"/>
              </a:lnSpc>
              <a:buNone/>
            </a:pPr>
            <a:r>
              <a:rPr lang="en-US" sz="2000" b="1" dirty="0"/>
              <a:t>Intelligent POI Discovery: </a:t>
            </a:r>
            <a:r>
              <a:rPr lang="en-US" sz="2000" dirty="0"/>
              <a:t>Integrates Overpass API to dynamically fetch and sort 12 categories of nearby points of interest based on real-time GPS.</a:t>
            </a:r>
          </a:p>
          <a:p>
            <a:pPr marL="0" indent="0" algn="just">
              <a:lnSpc>
                <a:spcPct val="150000"/>
              </a:lnSpc>
              <a:buNone/>
            </a:pPr>
            <a:endParaRPr lang="en-US" sz="2000" dirty="0"/>
          </a:p>
          <a:p>
            <a:pPr marL="0" indent="0" algn="just">
              <a:lnSpc>
                <a:spcPct val="150000"/>
              </a:lnSpc>
              <a:buNone/>
            </a:pPr>
            <a:r>
              <a:rPr lang="en-US" sz="2000" b="1" dirty="0"/>
              <a:t>Social Messaging: </a:t>
            </a:r>
            <a:r>
              <a:rPr lang="en-US" sz="2000" dirty="0"/>
              <a:t>1-to-1 real-time chat with delivery status, read receipts, and push notifications powered by Firebase Cloud Messaging (FCM).</a:t>
            </a:r>
            <a:endParaRPr lang="en-IN" sz="2000" dirty="0"/>
          </a:p>
        </p:txBody>
      </p:sp>
    </p:spTree>
    <p:extLst>
      <p:ext uri="{BB962C8B-B14F-4D97-AF65-F5344CB8AC3E}">
        <p14:creationId xmlns:p14="http://schemas.microsoft.com/office/powerpoint/2010/main" val="30255848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BE0E3-AB29-EADC-E5F8-A909BCAA648E}"/>
              </a:ext>
            </a:extLst>
          </p:cNvPr>
          <p:cNvSpPr>
            <a:spLocks noGrp="1"/>
          </p:cNvSpPr>
          <p:nvPr>
            <p:ph type="title"/>
          </p:nvPr>
        </p:nvSpPr>
        <p:spPr/>
        <p:txBody>
          <a:bodyPr/>
          <a:lstStyle/>
          <a:p>
            <a:r>
              <a:rPr lang="it-IT" dirty="0"/>
              <a:t>Module 4: AI Chatbot Assistant</a:t>
            </a:r>
            <a:endParaRPr lang="en-IN" dirty="0"/>
          </a:p>
        </p:txBody>
      </p:sp>
      <p:sp>
        <p:nvSpPr>
          <p:cNvPr id="3" name="Text Placeholder 2">
            <a:extLst>
              <a:ext uri="{FF2B5EF4-FFF2-40B4-BE49-F238E27FC236}">
                <a16:creationId xmlns:a16="http://schemas.microsoft.com/office/drawing/2014/main" id="{E613FE56-693D-1E84-E80C-1FD2628D9C94}"/>
              </a:ext>
            </a:extLst>
          </p:cNvPr>
          <p:cNvSpPr>
            <a:spLocks noGrp="1"/>
          </p:cNvSpPr>
          <p:nvPr>
            <p:ph type="body" idx="1"/>
          </p:nvPr>
        </p:nvSpPr>
        <p:spPr>
          <a:xfrm>
            <a:off x="838200" y="1690687"/>
            <a:ext cx="10515600" cy="4444642"/>
          </a:xfrm>
        </p:spPr>
        <p:txBody>
          <a:bodyPr>
            <a:normAutofit/>
          </a:bodyPr>
          <a:lstStyle/>
          <a:p>
            <a:pPr marL="0" indent="0" algn="just">
              <a:lnSpc>
                <a:spcPct val="150000"/>
              </a:lnSpc>
              <a:buNone/>
            </a:pPr>
            <a:r>
              <a:rPr lang="en-US" sz="2000" b="1" dirty="0"/>
              <a:t>Generative AI Integration: </a:t>
            </a:r>
            <a:r>
              <a:rPr lang="en-US" sz="2000" dirty="0"/>
              <a:t>Powered by the Google Gemini Pro API to provide dynamic, conversational travel assistance through the </a:t>
            </a:r>
            <a:r>
              <a:rPr lang="en-US" sz="2000" dirty="0" err="1"/>
              <a:t>TripBot</a:t>
            </a:r>
            <a:r>
              <a:rPr lang="en-US" sz="2000" dirty="0"/>
              <a:t> interface.</a:t>
            </a:r>
          </a:p>
          <a:p>
            <a:pPr marL="0" indent="0" algn="just">
              <a:lnSpc>
                <a:spcPct val="150000"/>
              </a:lnSpc>
              <a:buNone/>
            </a:pPr>
            <a:endParaRPr lang="en-US" sz="2000" b="1" dirty="0"/>
          </a:p>
          <a:p>
            <a:pPr marL="0" indent="0" algn="just">
              <a:lnSpc>
                <a:spcPct val="150000"/>
              </a:lnSpc>
              <a:buNone/>
            </a:pPr>
            <a:r>
              <a:rPr lang="en-US" sz="2000" b="1" dirty="0"/>
              <a:t>Context-Aware Guidance: </a:t>
            </a:r>
            <a:r>
              <a:rPr lang="en-US" sz="2000" dirty="0"/>
              <a:t>AI reads the user's current trip data (budget, destination) to offer highly personalized itinerary suggestions and emergency info.</a:t>
            </a:r>
          </a:p>
          <a:p>
            <a:pPr marL="0" indent="0" algn="just">
              <a:lnSpc>
                <a:spcPct val="150000"/>
              </a:lnSpc>
              <a:buNone/>
            </a:pPr>
            <a:endParaRPr lang="en-US" sz="2000" b="1" dirty="0"/>
          </a:p>
          <a:p>
            <a:pPr marL="0" indent="0" algn="just">
              <a:lnSpc>
                <a:spcPct val="150000"/>
              </a:lnSpc>
              <a:buNone/>
            </a:pPr>
            <a:r>
              <a:rPr lang="en-US" sz="2000" b="1" dirty="0"/>
              <a:t>Secure Execution: </a:t>
            </a:r>
            <a:r>
              <a:rPr lang="en-US" sz="2000" dirty="0"/>
              <a:t>API calls and keys are managed securely via runtime environment variables, with architecture ready for Cloud Function proxying.</a:t>
            </a:r>
            <a:endParaRPr lang="en-IN" sz="2000" dirty="0"/>
          </a:p>
        </p:txBody>
      </p:sp>
    </p:spTree>
    <p:extLst>
      <p:ext uri="{BB962C8B-B14F-4D97-AF65-F5344CB8AC3E}">
        <p14:creationId xmlns:p14="http://schemas.microsoft.com/office/powerpoint/2010/main" val="2391872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5B5A93D-9F59-1E8F-1AE0-1470535141B2}"/>
              </a:ext>
            </a:extLst>
          </p:cNvPr>
          <p:cNvSpPr>
            <a:spLocks noGrp="1"/>
          </p:cNvSpPr>
          <p:nvPr>
            <p:ph type="title"/>
          </p:nvPr>
        </p:nvSpPr>
        <p:spPr>
          <a:xfrm>
            <a:off x="838200" y="355293"/>
            <a:ext cx="10515600" cy="1325563"/>
          </a:xfrm>
        </p:spPr>
        <p:txBody>
          <a:bodyPr/>
          <a:lstStyle/>
          <a:p>
            <a:r>
              <a:rPr lang="it-IT" dirty="0"/>
              <a:t>Module 5: </a:t>
            </a:r>
            <a:r>
              <a:rPr lang="en-IN" dirty="0"/>
              <a:t>Advanced Map System Modals</a:t>
            </a:r>
          </a:p>
        </p:txBody>
      </p:sp>
      <p:sp>
        <p:nvSpPr>
          <p:cNvPr id="8" name="TextBox 7">
            <a:extLst>
              <a:ext uri="{FF2B5EF4-FFF2-40B4-BE49-F238E27FC236}">
                <a16:creationId xmlns:a16="http://schemas.microsoft.com/office/drawing/2014/main" id="{6461841E-7BDF-DEC6-842F-EEEC6CFB5004}"/>
              </a:ext>
            </a:extLst>
          </p:cNvPr>
          <p:cNvSpPr txBox="1"/>
          <p:nvPr/>
        </p:nvSpPr>
        <p:spPr>
          <a:xfrm>
            <a:off x="838200" y="1824049"/>
            <a:ext cx="10515600" cy="4664610"/>
          </a:xfrm>
          <a:prstGeom prst="rect">
            <a:avLst/>
          </a:prstGeom>
          <a:noFill/>
        </p:spPr>
        <p:txBody>
          <a:bodyPr wrap="square" rtlCol="0">
            <a:spAutoFit/>
          </a:bodyPr>
          <a:lstStyle/>
          <a:p>
            <a:pPr algn="just">
              <a:lnSpc>
                <a:spcPct val="150000"/>
              </a:lnSpc>
            </a:pPr>
            <a:r>
              <a:rPr lang="en-US" sz="2000" b="1" dirty="0"/>
              <a:t>Reverse Geocoding Address Sheet: </a:t>
            </a:r>
            <a:r>
              <a:rPr lang="en-US" sz="2000" dirty="0"/>
              <a:t>Tapping anywhere on the </a:t>
            </a:r>
            <a:r>
              <a:rPr lang="en-US" sz="2000" dirty="0" err="1"/>
              <a:t>MapLibre</a:t>
            </a:r>
            <a:r>
              <a:rPr lang="en-US" sz="2000" dirty="0"/>
              <a:t> GL map triggers a bottom modal displaying the exact road, city, country, and distance from the user, complete with one-tap "Pin Location" and "Navigate" actions.</a:t>
            </a:r>
          </a:p>
          <a:p>
            <a:pPr algn="just">
              <a:lnSpc>
                <a:spcPct val="150000"/>
              </a:lnSpc>
            </a:pPr>
            <a:endParaRPr lang="en-US" sz="2000" dirty="0"/>
          </a:p>
          <a:p>
            <a:pPr algn="just">
              <a:lnSpc>
                <a:spcPct val="150000"/>
              </a:lnSpc>
            </a:pPr>
            <a:r>
              <a:rPr lang="en-US" sz="2000" b="1" dirty="0"/>
              <a:t>Turn-by-Turn Navigation Sheet: </a:t>
            </a:r>
            <a:r>
              <a:rPr lang="en-US" sz="2000" dirty="0"/>
              <a:t>A draggable modal that parses OSRM routing data, presenting clear step-by-step directions with intuitive turn icons and exact distances.</a:t>
            </a:r>
          </a:p>
          <a:p>
            <a:pPr algn="just">
              <a:lnSpc>
                <a:spcPct val="150000"/>
              </a:lnSpc>
            </a:pPr>
            <a:endParaRPr lang="en-US" sz="2000" dirty="0"/>
          </a:p>
          <a:p>
            <a:pPr algn="just">
              <a:lnSpc>
                <a:spcPct val="150000"/>
              </a:lnSpc>
            </a:pPr>
            <a:r>
              <a:rPr lang="en-US" sz="2000" b="1" dirty="0"/>
              <a:t>Nearby POI Quick Strip &amp; Expansion Sheet: </a:t>
            </a:r>
            <a:r>
              <a:rPr lang="en-US" sz="2000" dirty="0"/>
              <a:t>A dynamic horizontal strip overlaying the map that displays the 5 closest Points of Interest, which can be expanded into a full, scrollable sheet sorted precisely by distance.</a:t>
            </a:r>
            <a:endParaRPr lang="en-IN" sz="2000" dirty="0"/>
          </a:p>
        </p:txBody>
      </p:sp>
    </p:spTree>
    <p:extLst>
      <p:ext uri="{BB962C8B-B14F-4D97-AF65-F5344CB8AC3E}">
        <p14:creationId xmlns:p14="http://schemas.microsoft.com/office/powerpoint/2010/main" val="5371810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5814935-D510-5D37-14C4-0E4B1CCCE3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5378" y="1838629"/>
            <a:ext cx="1689352" cy="3515029"/>
          </a:xfrm>
          <a:prstGeom prst="rect">
            <a:avLst/>
          </a:prstGeom>
        </p:spPr>
      </p:pic>
      <p:pic>
        <p:nvPicPr>
          <p:cNvPr id="12" name="Picture 11">
            <a:extLst>
              <a:ext uri="{FF2B5EF4-FFF2-40B4-BE49-F238E27FC236}">
                <a16:creationId xmlns:a16="http://schemas.microsoft.com/office/drawing/2014/main" id="{E76BE79D-DE69-1F76-6A5E-BBC4694DE9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5856" y="1838630"/>
            <a:ext cx="1693215" cy="3515029"/>
          </a:xfrm>
          <a:prstGeom prst="rect">
            <a:avLst/>
          </a:prstGeom>
        </p:spPr>
      </p:pic>
      <p:pic>
        <p:nvPicPr>
          <p:cNvPr id="20" name="Picture 19">
            <a:extLst>
              <a:ext uri="{FF2B5EF4-FFF2-40B4-BE49-F238E27FC236}">
                <a16:creationId xmlns:a16="http://schemas.microsoft.com/office/drawing/2014/main" id="{FBAA21D5-A713-3227-9BFF-400B28B701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87461" y="1838629"/>
            <a:ext cx="1685507" cy="3515030"/>
          </a:xfrm>
          <a:prstGeom prst="rect">
            <a:avLst/>
          </a:prstGeom>
        </p:spPr>
      </p:pic>
      <p:pic>
        <p:nvPicPr>
          <p:cNvPr id="22" name="Picture 21">
            <a:extLst>
              <a:ext uri="{FF2B5EF4-FFF2-40B4-BE49-F238E27FC236}">
                <a16:creationId xmlns:a16="http://schemas.microsoft.com/office/drawing/2014/main" id="{A16C259A-9F8C-B708-F800-CF897949418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72968" y="1838631"/>
            <a:ext cx="1689996" cy="3515030"/>
          </a:xfrm>
          <a:prstGeom prst="rect">
            <a:avLst/>
          </a:prstGeom>
        </p:spPr>
      </p:pic>
      <p:pic>
        <p:nvPicPr>
          <p:cNvPr id="24" name="Picture 23">
            <a:extLst>
              <a:ext uri="{FF2B5EF4-FFF2-40B4-BE49-F238E27FC236}">
                <a16:creationId xmlns:a16="http://schemas.microsoft.com/office/drawing/2014/main" id="{8B86BDA7-8F5D-1069-71B2-FF66E3A7F1C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362964" y="1838633"/>
            <a:ext cx="1685507" cy="3515030"/>
          </a:xfrm>
          <a:prstGeom prst="rect">
            <a:avLst/>
          </a:prstGeom>
        </p:spPr>
      </p:pic>
      <p:sp>
        <p:nvSpPr>
          <p:cNvPr id="27" name="Title 1">
            <a:extLst>
              <a:ext uri="{FF2B5EF4-FFF2-40B4-BE49-F238E27FC236}">
                <a16:creationId xmlns:a16="http://schemas.microsoft.com/office/drawing/2014/main" id="{43DDAD2B-9786-FDF4-5585-52688DB8DB4A}"/>
              </a:ext>
            </a:extLst>
          </p:cNvPr>
          <p:cNvSpPr>
            <a:spLocks noGrp="1"/>
          </p:cNvSpPr>
          <p:nvPr>
            <p:ph type="title"/>
          </p:nvPr>
        </p:nvSpPr>
        <p:spPr>
          <a:xfrm>
            <a:off x="838200" y="365125"/>
            <a:ext cx="10515600" cy="1325563"/>
          </a:xfrm>
        </p:spPr>
        <p:txBody>
          <a:bodyPr/>
          <a:lstStyle/>
          <a:p>
            <a:r>
              <a:rPr lang="it-IT" dirty="0"/>
              <a:t>Result : </a:t>
            </a:r>
            <a:endParaRPr lang="en-IN" dirty="0"/>
          </a:p>
        </p:txBody>
      </p:sp>
      <p:pic>
        <p:nvPicPr>
          <p:cNvPr id="5" name="Picture 4">
            <a:extLst>
              <a:ext uri="{FF2B5EF4-FFF2-40B4-BE49-F238E27FC236}">
                <a16:creationId xmlns:a16="http://schemas.microsoft.com/office/drawing/2014/main" id="{6DC8BB8B-A028-E178-AC9D-67CA0E2F1E8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3978" y="1838628"/>
            <a:ext cx="1693216" cy="3515029"/>
          </a:xfrm>
          <a:prstGeom prst="rect">
            <a:avLst/>
          </a:prstGeom>
        </p:spPr>
      </p:pic>
      <p:pic>
        <p:nvPicPr>
          <p:cNvPr id="7" name="Picture 6">
            <a:extLst>
              <a:ext uri="{FF2B5EF4-FFF2-40B4-BE49-F238E27FC236}">
                <a16:creationId xmlns:a16="http://schemas.microsoft.com/office/drawing/2014/main" id="{26466986-6A89-1185-1031-CD4DBCBBEC2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919871" y="1838627"/>
            <a:ext cx="1693215" cy="3512348"/>
          </a:xfrm>
          <a:prstGeom prst="rect">
            <a:avLst/>
          </a:prstGeom>
        </p:spPr>
      </p:pic>
    </p:spTree>
    <p:extLst>
      <p:ext uri="{BB962C8B-B14F-4D97-AF65-F5344CB8AC3E}">
        <p14:creationId xmlns:p14="http://schemas.microsoft.com/office/powerpoint/2010/main" val="22837650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B34BB-B89C-C5DA-4340-B9874C9CF568}"/>
              </a:ext>
            </a:extLst>
          </p:cNvPr>
          <p:cNvSpPr>
            <a:spLocks noGrp="1"/>
          </p:cNvSpPr>
          <p:nvPr>
            <p:ph type="title"/>
          </p:nvPr>
        </p:nvSpPr>
        <p:spPr/>
        <p:txBody>
          <a:bodyPr/>
          <a:lstStyle/>
          <a:p>
            <a:r>
              <a:rPr lang="en-IN"/>
              <a:t>Conclusion &amp; Future Work</a:t>
            </a:r>
          </a:p>
        </p:txBody>
      </p:sp>
      <p:sp>
        <p:nvSpPr>
          <p:cNvPr id="3" name="Text Placeholder 2">
            <a:extLst>
              <a:ext uri="{FF2B5EF4-FFF2-40B4-BE49-F238E27FC236}">
                <a16:creationId xmlns:a16="http://schemas.microsoft.com/office/drawing/2014/main" id="{FE9E6F3C-0802-DC99-4E95-460E0D9AA36E}"/>
              </a:ext>
            </a:extLst>
          </p:cNvPr>
          <p:cNvSpPr>
            <a:spLocks noGrp="1"/>
          </p:cNvSpPr>
          <p:nvPr>
            <p:ph type="body" idx="1"/>
          </p:nvPr>
        </p:nvSpPr>
        <p:spPr>
          <a:xfrm>
            <a:off x="838200" y="1484671"/>
            <a:ext cx="10515600" cy="5373329"/>
          </a:xfrm>
        </p:spPr>
        <p:txBody>
          <a:bodyPr>
            <a:normAutofit/>
          </a:bodyPr>
          <a:lstStyle/>
          <a:p>
            <a:pPr marL="0" indent="0">
              <a:lnSpc>
                <a:spcPct val="150000"/>
              </a:lnSpc>
              <a:buNone/>
            </a:pPr>
            <a:r>
              <a:rPr lang="en-US" sz="2000" b="1" dirty="0"/>
              <a:t>Achievements:</a:t>
            </a:r>
          </a:p>
          <a:p>
            <a:pPr marL="0" indent="0" algn="just">
              <a:lnSpc>
                <a:spcPct val="150000"/>
              </a:lnSpc>
              <a:buNone/>
            </a:pPr>
            <a:r>
              <a:rPr lang="en-US" sz="2000" dirty="0"/>
              <a:t>Successfully engineered and delivered a highly scalable, Realtime application while strictly resolving the cost and architectural limitations found in existing travel software.</a:t>
            </a:r>
          </a:p>
          <a:p>
            <a:pPr marL="0" indent="0" algn="just">
              <a:lnSpc>
                <a:spcPct val="150000"/>
              </a:lnSpc>
              <a:buNone/>
            </a:pPr>
            <a:endParaRPr lang="en-US" sz="2000" dirty="0"/>
          </a:p>
          <a:p>
            <a:pPr marL="0" indent="0">
              <a:lnSpc>
                <a:spcPct val="150000"/>
              </a:lnSpc>
              <a:buNone/>
            </a:pPr>
            <a:r>
              <a:rPr lang="en-US" sz="2000" b="1" dirty="0"/>
              <a:t>Future Improvements:</a:t>
            </a:r>
          </a:p>
          <a:p>
            <a:pPr algn="just">
              <a:lnSpc>
                <a:spcPct val="150000"/>
              </a:lnSpc>
            </a:pPr>
            <a:r>
              <a:rPr lang="en-US" sz="2000" dirty="0"/>
              <a:t>Integrating automated receipt parsing for seamless budget management.</a:t>
            </a:r>
          </a:p>
          <a:p>
            <a:pPr algn="just">
              <a:lnSpc>
                <a:spcPct val="150000"/>
              </a:lnSpc>
            </a:pPr>
            <a:r>
              <a:rPr lang="en-US" sz="2000" dirty="0"/>
              <a:t>Enabling group-based geolocation sharing for multiuser trips.</a:t>
            </a:r>
          </a:p>
          <a:p>
            <a:pPr algn="just">
              <a:lnSpc>
                <a:spcPct val="150000"/>
              </a:lnSpc>
            </a:pPr>
            <a:r>
              <a:rPr lang="en-US" sz="2000" dirty="0"/>
              <a:t>Expanding deployment to broader App Stores and adding multilanguage support.</a:t>
            </a:r>
            <a:endParaRPr lang="en-IN" sz="2000" dirty="0"/>
          </a:p>
        </p:txBody>
      </p:sp>
    </p:spTree>
    <p:extLst>
      <p:ext uri="{BB962C8B-B14F-4D97-AF65-F5344CB8AC3E}">
        <p14:creationId xmlns:p14="http://schemas.microsoft.com/office/powerpoint/2010/main" val="21204902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2D339-A8E8-81A8-B5EE-BC189A46422A}"/>
              </a:ext>
            </a:extLst>
          </p:cNvPr>
          <p:cNvSpPr>
            <a:spLocks noGrp="1"/>
          </p:cNvSpPr>
          <p:nvPr>
            <p:ph type="title"/>
          </p:nvPr>
        </p:nvSpPr>
        <p:spPr/>
        <p:txBody>
          <a:bodyPr/>
          <a:lstStyle/>
          <a:p>
            <a:r>
              <a:rPr lang="en-IN" dirty="0"/>
              <a:t>References</a:t>
            </a:r>
          </a:p>
        </p:txBody>
      </p:sp>
      <p:sp>
        <p:nvSpPr>
          <p:cNvPr id="3" name="Text Placeholder 2">
            <a:extLst>
              <a:ext uri="{FF2B5EF4-FFF2-40B4-BE49-F238E27FC236}">
                <a16:creationId xmlns:a16="http://schemas.microsoft.com/office/drawing/2014/main" id="{257DA062-5615-DE93-8EB1-3C5B6FE54B99}"/>
              </a:ext>
            </a:extLst>
          </p:cNvPr>
          <p:cNvSpPr>
            <a:spLocks noGrp="1"/>
          </p:cNvSpPr>
          <p:nvPr>
            <p:ph type="body" idx="1"/>
          </p:nvPr>
        </p:nvSpPr>
        <p:spPr>
          <a:xfrm>
            <a:off x="838200" y="1451999"/>
            <a:ext cx="10515600" cy="5040876"/>
          </a:xfrm>
        </p:spPr>
        <p:txBody>
          <a:bodyPr>
            <a:normAutofit fontScale="92500" lnSpcReduction="10000"/>
          </a:bodyPr>
          <a:lstStyle/>
          <a:p>
            <a:pPr marL="514350" indent="-514350" algn="just">
              <a:lnSpc>
                <a:spcPct val="150000"/>
              </a:lnSpc>
              <a:buFont typeface="+mj-lt"/>
              <a:buAutoNum type="arabicPeriod"/>
            </a:pPr>
            <a:r>
              <a:rPr lang="en-IN" sz="1900" dirty="0"/>
              <a:t>Kaur, P., &amp; Sharma, M. (2021). Analysis of NoSQL cloud databases: Firebase Realtime Database vs. Cloud Firestore for mobile applications. International Journal of Computer Applications, 178(10), 1521.</a:t>
            </a:r>
          </a:p>
          <a:p>
            <a:pPr marL="514350" indent="-514350" algn="just">
              <a:lnSpc>
                <a:spcPct val="150000"/>
              </a:lnSpc>
              <a:buFont typeface="+mj-lt"/>
              <a:buAutoNum type="arabicPeriod"/>
            </a:pPr>
            <a:r>
              <a:rPr lang="en-IN" sz="1900" dirty="0"/>
              <a:t>Nour, M., &amp; Chikh, A. (2019). Evaluating the implementation of clean architecture in mobile apps. ACM SIGSOFT Software Engineering Notes, 44(3), 2530.</a:t>
            </a:r>
          </a:p>
          <a:p>
            <a:pPr marL="514350" indent="-514350" algn="just">
              <a:lnSpc>
                <a:spcPct val="150000"/>
              </a:lnSpc>
              <a:buFont typeface="+mj-lt"/>
              <a:buAutoNum type="arabicPeriod"/>
            </a:pPr>
            <a:r>
              <a:rPr lang="en-IN" sz="1900" dirty="0"/>
              <a:t>Sommer, A., &amp; Krusche, S. (2020). Evaluation of cross platform frameworks for mobile applications. Proceedings of the IEEE (ICST), 120130.</a:t>
            </a:r>
          </a:p>
          <a:p>
            <a:pPr marL="514350" indent="-514350" algn="just">
              <a:lnSpc>
                <a:spcPct val="150000"/>
              </a:lnSpc>
              <a:buFont typeface="+mj-lt"/>
              <a:buAutoNum type="arabicPeriod"/>
            </a:pPr>
            <a:r>
              <a:rPr lang="en-IN" sz="1900" dirty="0"/>
              <a:t>Wang, X., &amp; Li, Y. (2023). Context aware AI assistants for mobile tourism applications using large language models. IEEE Transactions on Mobile Computing, 22(8), 45014515.</a:t>
            </a:r>
          </a:p>
          <a:p>
            <a:pPr marL="514350" indent="-514350" algn="just">
              <a:lnSpc>
                <a:spcPct val="150000"/>
              </a:lnSpc>
              <a:buFont typeface="+mj-lt"/>
              <a:buAutoNum type="arabicPeriod"/>
            </a:pPr>
            <a:r>
              <a:rPr lang="en-IN" sz="1900" dirty="0"/>
              <a:t>Zhuang, Z., Kim, K. H., &amp; Singh, J. P. (2010). Improving energy efficiency of location sensing on smartphones. MobiSys, 315330.</a:t>
            </a:r>
          </a:p>
        </p:txBody>
      </p:sp>
    </p:spTree>
    <p:extLst>
      <p:ext uri="{BB962C8B-B14F-4D97-AF65-F5344CB8AC3E}">
        <p14:creationId xmlns:p14="http://schemas.microsoft.com/office/powerpoint/2010/main" val="6138127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A9EE8-91AC-5989-8449-CF0790D63362}"/>
              </a:ext>
            </a:extLst>
          </p:cNvPr>
          <p:cNvSpPr>
            <a:spLocks noGrp="1"/>
          </p:cNvSpPr>
          <p:nvPr>
            <p:ph type="title"/>
          </p:nvPr>
        </p:nvSpPr>
        <p:spPr>
          <a:xfrm>
            <a:off x="936522" y="365125"/>
            <a:ext cx="10417277" cy="1325563"/>
          </a:xfrm>
        </p:spPr>
        <p:txBody>
          <a:bodyPr/>
          <a:lstStyle/>
          <a:p>
            <a:r>
              <a:rPr lang="en-IN" dirty="0"/>
              <a:t>Bibliography</a:t>
            </a:r>
          </a:p>
        </p:txBody>
      </p:sp>
      <p:sp>
        <p:nvSpPr>
          <p:cNvPr id="3" name="Text Placeholder 2">
            <a:extLst>
              <a:ext uri="{FF2B5EF4-FFF2-40B4-BE49-F238E27FC236}">
                <a16:creationId xmlns:a16="http://schemas.microsoft.com/office/drawing/2014/main" id="{623FA723-E16E-FFAA-CA99-90C026BD5731}"/>
              </a:ext>
            </a:extLst>
          </p:cNvPr>
          <p:cNvSpPr>
            <a:spLocks noGrp="1"/>
          </p:cNvSpPr>
          <p:nvPr>
            <p:ph type="body" idx="1"/>
          </p:nvPr>
        </p:nvSpPr>
        <p:spPr>
          <a:xfrm>
            <a:off x="936523" y="1690688"/>
            <a:ext cx="11255477" cy="4351338"/>
          </a:xfrm>
        </p:spPr>
        <p:txBody>
          <a:bodyPr>
            <a:noAutofit/>
          </a:bodyPr>
          <a:lstStyle/>
          <a:p>
            <a:pPr marL="0" indent="0" algn="just">
              <a:buNone/>
            </a:pPr>
            <a:r>
              <a:rPr lang="en-IN" sz="1900" b="1" dirty="0"/>
              <a:t>Books:</a:t>
            </a:r>
          </a:p>
          <a:p>
            <a:pPr marL="514350" indent="-514350" algn="just">
              <a:lnSpc>
                <a:spcPct val="120000"/>
              </a:lnSpc>
              <a:buFont typeface="+mj-lt"/>
              <a:buAutoNum type="arabicPeriod"/>
            </a:pPr>
            <a:r>
              <a:rPr lang="en-IN" sz="1900" dirty="0"/>
              <a:t>Martin, R. C. (2017). Clean architecture: A craftsman's guide to software structure and design. Prentice Hall.</a:t>
            </a:r>
          </a:p>
          <a:p>
            <a:pPr marL="514350" indent="-514350" algn="just">
              <a:lnSpc>
                <a:spcPct val="120000"/>
              </a:lnSpc>
              <a:buFont typeface="+mj-lt"/>
              <a:buAutoNum type="arabicPeriod"/>
            </a:pPr>
            <a:r>
              <a:rPr lang="en-IN" sz="1900" dirty="0"/>
              <a:t>Moroney, L. (2017). The definitive guide to Firebase: Build Android, iOS, and Web applications. Apress.</a:t>
            </a:r>
          </a:p>
          <a:p>
            <a:pPr marL="514350" indent="-514350" algn="just">
              <a:lnSpc>
                <a:spcPct val="120000"/>
              </a:lnSpc>
              <a:buFont typeface="+mj-lt"/>
              <a:buAutoNum type="arabicPeriod"/>
            </a:pPr>
            <a:r>
              <a:rPr lang="en-IN" sz="1900" dirty="0"/>
              <a:t>Windmill, E. (2020). Flutter in action. Manning Publications.</a:t>
            </a:r>
          </a:p>
          <a:p>
            <a:pPr marL="514350" indent="-514350" algn="just">
              <a:lnSpc>
                <a:spcPct val="120000"/>
              </a:lnSpc>
              <a:buFont typeface="+mj-lt"/>
              <a:buAutoNum type="arabicPeriod"/>
            </a:pPr>
            <a:r>
              <a:rPr lang="en-IN" sz="1900" dirty="0"/>
              <a:t>Websites &amp; Official Documentation:</a:t>
            </a:r>
          </a:p>
          <a:p>
            <a:pPr marL="514350" indent="-514350" algn="just">
              <a:lnSpc>
                <a:spcPct val="120000"/>
              </a:lnSpc>
              <a:buFont typeface="+mj-lt"/>
              <a:buAutoNum type="arabicPeriod"/>
            </a:pPr>
            <a:r>
              <a:rPr lang="en-IN" sz="1900" dirty="0"/>
              <a:t>Google. (2024). Cloud Firestore documentation. Firebase. https://firebase.google.com/docs/firestore</a:t>
            </a:r>
          </a:p>
          <a:p>
            <a:pPr marL="514350" indent="-514350" algn="just">
              <a:lnSpc>
                <a:spcPct val="120000"/>
              </a:lnSpc>
              <a:buFont typeface="+mj-lt"/>
              <a:buAutoNum type="arabicPeriod"/>
            </a:pPr>
            <a:r>
              <a:rPr lang="en-IN" sz="1900" dirty="0"/>
              <a:t>Google. (2024). Gemini API documentation. Google AI for Developers. https://ai.google.dev/docs</a:t>
            </a:r>
          </a:p>
          <a:p>
            <a:pPr marL="514350" indent="-514350" algn="just">
              <a:lnSpc>
                <a:spcPct val="120000"/>
              </a:lnSpc>
              <a:buFont typeface="+mj-lt"/>
              <a:buAutoNum type="arabicPeriod"/>
            </a:pPr>
            <a:r>
              <a:rPr lang="en-IN" sz="1900" dirty="0"/>
              <a:t>Google. (2024). State management in Flutter. Flutter Documentation. https://docs.flutter.dev/dataandbackend/statemgmt</a:t>
            </a:r>
          </a:p>
        </p:txBody>
      </p:sp>
    </p:spTree>
    <p:extLst>
      <p:ext uri="{BB962C8B-B14F-4D97-AF65-F5344CB8AC3E}">
        <p14:creationId xmlns:p14="http://schemas.microsoft.com/office/powerpoint/2010/main" val="14462272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ED10B-7842-BD01-61FA-36770B8DCD43}"/>
              </a:ext>
            </a:extLst>
          </p:cNvPr>
          <p:cNvSpPr>
            <a:spLocks noGrp="1"/>
          </p:cNvSpPr>
          <p:nvPr>
            <p:ph type="title"/>
          </p:nvPr>
        </p:nvSpPr>
        <p:spPr>
          <a:xfrm>
            <a:off x="838200" y="2643085"/>
            <a:ext cx="10515600" cy="1571829"/>
          </a:xfrm>
        </p:spPr>
        <p:txBody>
          <a:bodyPr>
            <a:normAutofit/>
          </a:bodyPr>
          <a:lstStyle/>
          <a:p>
            <a:pPr algn="ctr"/>
            <a:r>
              <a:rPr lang="en-US" sz="8800" b="1" dirty="0"/>
              <a:t>Thank You</a:t>
            </a:r>
            <a:endParaRPr lang="en-IN" sz="8800" b="1" dirty="0"/>
          </a:p>
        </p:txBody>
      </p:sp>
    </p:spTree>
    <p:extLst>
      <p:ext uri="{BB962C8B-B14F-4D97-AF65-F5344CB8AC3E}">
        <p14:creationId xmlns:p14="http://schemas.microsoft.com/office/powerpoint/2010/main" val="22032850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1052</TotalTime>
  <Words>1926</Words>
  <Application>Microsoft Office PowerPoint</Application>
  <PresentationFormat>Widescreen</PresentationFormat>
  <Paragraphs>161</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Aptos Display</vt:lpstr>
      <vt:lpstr>Arial</vt:lpstr>
      <vt:lpstr>Calibri</vt:lpstr>
      <vt:lpstr>Times New Roman</vt:lpstr>
      <vt:lpstr>Office Theme</vt:lpstr>
      <vt:lpstr>PowerPoint Presentation</vt:lpstr>
      <vt:lpstr>Introduction</vt:lpstr>
      <vt:lpstr>Abstract</vt:lpstr>
      <vt:lpstr>Literature Review:</vt:lpstr>
      <vt:lpstr>Literature Review:</vt:lpstr>
      <vt:lpstr>Literature Review:</vt:lpstr>
      <vt:lpstr>Literature Review:</vt:lpstr>
      <vt:lpstr>Literature Review:</vt:lpstr>
      <vt:lpstr>Summary of Literature</vt:lpstr>
      <vt:lpstr>Existing System</vt:lpstr>
      <vt:lpstr>Proposed System: TripGUY</vt:lpstr>
      <vt:lpstr>Architecture Diagram</vt:lpstr>
      <vt:lpstr>Implementation</vt:lpstr>
      <vt:lpstr>Module 1: User Account &amp; Authentication</vt:lpstr>
      <vt:lpstr>Module 2: Trip Management &amp; Travel Diary</vt:lpstr>
      <vt:lpstr>Module 3: Real-Time Geolocation &amp; Messaging</vt:lpstr>
      <vt:lpstr>Module 4: AI Chatbot Assistant</vt:lpstr>
      <vt:lpstr>Module 5: Advanced Map System Modals</vt:lpstr>
      <vt:lpstr>Result : </vt:lpstr>
      <vt:lpstr>Conclusion &amp; Future Work</vt:lpstr>
      <vt:lpstr>References</vt:lpstr>
      <vt:lpstr>Bibliography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Gnanasekaran D</dc:creator>
  <cp:lastModifiedBy>Gnanasekaran D</cp:lastModifiedBy>
  <cp:revision>17</cp:revision>
  <dcterms:created xsi:type="dcterms:W3CDTF">2026-02-25T06:57:08Z</dcterms:created>
  <dcterms:modified xsi:type="dcterms:W3CDTF">2026-04-17T01:57:34Z</dcterms:modified>
</cp:coreProperties>
</file>